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dd687b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dd687b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  <a:buNone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3600"/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</a:defRPr>
              <a:buNone/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b="1" sz="2600"/>
              <a:buNone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/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spcBef>
                <a:spcPts val="0"/>
              </a:spcBef>
              <a:spcAft>
                <a:spcPts val="0"/>
              </a:spcAft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1pPr>
            <a:lvl2pPr indent="0" lvl="1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2pPr>
            <a:lvl3pPr indent="0" lvl="2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3pPr>
            <a:lvl4pPr indent="0" lvl="3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4pPr>
            <a:lvl5pPr indent="0" lvl="4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5pPr>
            <a:lvl6pPr indent="0" lvl="5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6pPr>
            <a:lvl7pPr indent="0" lvl="6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7pPr>
            <a:lvl8pPr indent="0" lvl="7" marL="0" rtl="0">
              <a:spcBef>
                <a:spcPts val="2000"/>
              </a:spcBef>
              <a:spcAft>
                <a:spcPts val="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8pPr>
            <a:lvl9pPr indent="0" lvl="8" marL="0" rtl="0">
              <a:spcBef>
                <a:spcPts val="2000"/>
              </a:spcBef>
              <a:spcAft>
                <a:spcPts val="2000"/>
              </a:spcAft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  <a:buNone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indent="0" lvl="1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2pPr>
            <a:lvl3pPr indent="0" lvl="2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3pPr>
            <a:lvl4pPr indent="0" lvl="3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4pPr>
            <a:lvl5pPr indent="0" lvl="4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5pPr>
            <a:lvl6pPr indent="0" lvl="5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6pPr>
            <a:lvl7pPr indent="0" lvl="6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7pPr>
            <a:lvl8pPr indent="0" lvl="7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8pPr>
            <a:lvl9pPr indent="0" lvl="8" marL="0" rtl="0" algn="ctr">
              <a:spcBef>
                <a:spcPts val="0"/>
              </a:spcBef>
              <a:spcAft>
                <a:spcPts val="0"/>
              </a:spcAft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  <a:buNone/>
            </a:lvl1pPr>
            <a:lvl2pPr lvl="1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2pPr>
            <a:lvl3pPr lvl="2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3pPr>
            <a:lvl4pPr lvl="3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4pPr>
            <a:lvl5pPr lvl="4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5pPr>
            <a:lvl6pPr lvl="5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6pPr>
            <a:lvl7pPr lvl="6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7pPr>
            <a:lvl8pPr lvl="7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8pPr>
            <a:lvl9pPr lvl="8" rtl="0" indent="0" mar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1pPr>
            <a:lvl2pPr indent="0" lvl="1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2pPr>
            <a:lvl3pPr indent="0" lvl="2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3pPr>
            <a:lvl4pPr indent="0" lvl="3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4pPr>
            <a:lvl5pPr indent="0" lvl="4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5pPr>
            <a:lvl6pPr indent="0" lvl="5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6pPr>
            <a:lvl7pPr indent="0" lvl="6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7pPr>
            <a:lvl8pPr indent="0" lvl="7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8pPr>
            <a:lvl9pPr indent="0" lvl="8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  <a:buNone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 indent="0" marL="0">
              <a:buNone/>
              <a:defRPr sz="2000">
                <a:solidFill>
                  <a:schemeClr val="dk2"/>
                </a:solidFill>
              </a:defRPr>
              <a:buNone/>
            </a:lvl1pPr>
            <a:lvl2pPr lvl="1" rtl="0" algn="r" indent="0" marL="0">
              <a:buNone/>
              <a:defRPr sz="2000">
                <a:solidFill>
                  <a:schemeClr val="dk2"/>
                </a:solidFill>
              </a:defRPr>
              <a:buNone/>
            </a:lvl2pPr>
            <a:lvl3pPr lvl="2" rtl="0" algn="r" indent="0" marL="0">
              <a:buNone/>
              <a:defRPr sz="2000">
                <a:solidFill>
                  <a:schemeClr val="dk2"/>
                </a:solidFill>
              </a:defRPr>
              <a:buNone/>
            </a:lvl3pPr>
            <a:lvl4pPr lvl="3" rtl="0" algn="r" indent="0" marL="0">
              <a:buNone/>
              <a:defRPr sz="2000">
                <a:solidFill>
                  <a:schemeClr val="dk2"/>
                </a:solidFill>
              </a:defRPr>
              <a:buNone/>
            </a:lvl4pPr>
            <a:lvl5pPr lvl="4" rtl="0" algn="r" indent="0" marL="0">
              <a:buNone/>
              <a:defRPr sz="2000">
                <a:solidFill>
                  <a:schemeClr val="dk2"/>
                </a:solidFill>
              </a:defRPr>
              <a:buNone/>
            </a:lvl5pPr>
            <a:lvl6pPr lvl="5" rtl="0" algn="r" indent="0" marL="0">
              <a:buNone/>
              <a:defRPr sz="2000">
                <a:solidFill>
                  <a:schemeClr val="dk2"/>
                </a:solidFill>
              </a:defRPr>
              <a:buNone/>
            </a:lvl6pPr>
            <a:lvl7pPr lvl="6" rtl="0" algn="r" indent="0" marL="0">
              <a:buNone/>
              <a:defRPr sz="2000">
                <a:solidFill>
                  <a:schemeClr val="dk2"/>
                </a:solidFill>
              </a:defRPr>
              <a:buNone/>
            </a:lvl7pPr>
            <a:lvl8pPr lvl="7" rtl="0" algn="r" indent="0" marL="0">
              <a:buNone/>
              <a:defRPr sz="2000">
                <a:solidFill>
                  <a:schemeClr val="dk2"/>
                </a:solidFill>
              </a:defRPr>
              <a:buNone/>
            </a:lvl8pPr>
            <a:lvl9pPr lvl="8" rtl="0" algn="r" indent="0" marL="0">
              <a:buNone/>
              <a:defRPr sz="2000">
                <a:solidFill>
                  <a:schemeClr val="dk2"/>
                </a:solidFill>
              </a:defRPr>
              <a:buNone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Sleep Health and Lifestyle Analysis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Descriptive Statistics and Data Exploration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Tim Wilcoxson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Typical Amount of Physical Activity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Number of Daily Steps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/>
              <a:t>Sleep Duration (hours)</a:t>
            </a:r>
            <a:r>
              <a:rPr sz="1400" b="0"/>
              <a:t> is an example of a </a:t>
            </a:r>
            <a:r>
              <a:rPr sz="1400" b="1"/>
              <a:t>continuous</a:t>
            </a:r>
            <a:r>
              <a:rPr sz="1400" b="0"/>
              <a:t> variable in the dataset.</a:t>
            </a:r>
            <a:endParaRPr sz="3000">
              <a:solidFill>
                <a:srgbClr val="2D3D4A"/>
              </a:solidFill>
            </a:endParaRPr>
          </a:p>
          <a:p>
            <a:pPr indent="0" marL="0">
              <a:buNone/>
            </a:pPr>
            <a:r>
              <a:rPr sz="1400"/>
              <a:t>    Values such as 5.9, 6.1, and 7.8 can take any real number within a range.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Daily Steps</a:t>
            </a:r>
            <a:r>
              <a:rPr sz="1400" b="0"/>
              <a:t> is an example of an </a:t>
            </a:r>
            <a:r>
              <a:rPr sz="1400" b="1"/>
              <a:t>integer</a:t>
            </a:r>
            <a:r>
              <a:rPr sz="1400" b="0"/>
              <a:t> variable in the dataset.</a:t>
            </a:r>
          </a:p>
          <a:p>
            <a:pPr indent="0" marL="0">
              <a:buNone/>
            </a:pPr>
            <a:r>
              <a:rPr sz="1400"/>
              <a:t>    Values such as 3,000, 5,600, and 10,000 are whole numbers.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Quality of Sleep (scale: 1–10)</a:t>
            </a:r>
            <a:r>
              <a:rPr sz="1400" b="0"/>
              <a:t> is an example of an </a:t>
            </a:r>
            <a:r>
              <a:rPr sz="1400" b="1"/>
              <a:t>ordinal categorical</a:t>
            </a:r>
            <a:r>
              <a:rPr sz="1400" b="0"/>
              <a:t> variable in the dataset.</a:t>
            </a:r>
          </a:p>
          <a:p>
            <a:pPr indent="0" marL="0">
              <a:buNone/>
            </a:pPr>
            <a:r>
              <a:rPr sz="1400"/>
              <a:t>    The ratings have a meaningful order from low (1) to high (10).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Gender</a:t>
            </a:r>
            <a:r>
              <a:rPr sz="1400" b="0"/>
              <a:t> is an example of a </a:t>
            </a:r>
            <a:r>
              <a:rPr sz="1400" b="1"/>
              <a:t>nominal categorical</a:t>
            </a:r>
            <a:r>
              <a:rPr sz="1400" b="0"/>
              <a:t> variable in the dataset.</a:t>
            </a:r>
          </a:p>
          <a:p>
            <a:pPr indent="0" marL="0">
              <a:buNone/>
            </a:pPr>
            <a:r>
              <a:rPr sz="1400"/>
              <a:t>    Categories (Male, Female) have no inherent order or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Typical Amount (Minutes) of Physical Activity</a:t>
            </a:r>
            <a:endParaRPr sz="64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/>
              <a:t>Measures of Center</a:t>
            </a:r>
            <a:endParaRPr sz="3000">
              <a:solidFill>
                <a:srgbClr val="2D3D4A"/>
              </a:solidFill>
            </a:endParaRP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•  Mean: </a:t>
            </a:r>
            <a:r>
              <a:rPr sz="1400" b="0"/>
              <a:t>59.17 minutes per day</a:t>
            </a:r>
          </a:p>
          <a:p>
            <a:pPr indent="0" marL="0">
              <a:buNone/>
            </a:pPr>
            <a:r>
              <a:rPr sz="1400" b="1"/>
              <a:t>•  Median: </a:t>
            </a:r>
            <a:r>
              <a:rPr sz="1400" b="0"/>
              <a:t>60.00 minutes per day</a:t>
            </a:r>
          </a:p>
          <a:p>
            <a:pPr indent="0" marL="0">
              <a:buNone/>
            </a:pPr>
            <a:r>
              <a:rPr sz="1400" b="1"/>
              <a:t>•  Mode: </a:t>
            </a:r>
            <a:r>
              <a:rPr sz="1400" b="0"/>
              <a:t>60 minutes per day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Distribution Shape (Mean vs. Median)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/>
              <a:t>The mean (59.17) is very close to the median (60.00), indicating</a:t>
            </a:r>
          </a:p>
          <a:p>
            <a:pPr indent="0" marL="0">
              <a:buNone/>
            </a:pPr>
            <a:r>
              <a:rPr sz="1400"/>
              <a:t>the distribution is approximately symmetric. The mean is slightly</a:t>
            </a:r>
          </a:p>
          <a:p>
            <a:pPr indent="0" marL="0">
              <a:buNone/>
            </a:pPr>
            <a:r>
              <a:rPr sz="1400"/>
              <a:t>less than the median, which can suggest a minor left tail, but the</a:t>
            </a:r>
          </a:p>
          <a:p>
            <a:pPr indent="0" marL="0">
              <a:buNone/>
            </a:pPr>
            <a:r>
              <a:rPr sz="1400"/>
              <a:t>difference is negligible—the distribution of physical activity</a:t>
            </a:r>
          </a:p>
          <a:p>
            <a:pPr indent="0" marL="0">
              <a:buNone/>
            </a:pPr>
            <a:r>
              <a:rPr sz="1400"/>
              <a:t>levels is effectively symmetric.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Analysis of Daily Steps Taken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/>
              <a:t>Measures of Spread</a:t>
            </a:r>
            <a:endParaRPr sz="3000">
              <a:solidFill>
                <a:srgbClr val="2D3D4A"/>
              </a:solidFill>
            </a:endParaRP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•  Standard Deviation: </a:t>
            </a:r>
            <a:r>
              <a:rPr sz="1400" b="0"/>
              <a:t>1,617.92 steps</a:t>
            </a:r>
          </a:p>
          <a:p>
            <a:pPr indent="0" marL="0">
              <a:buNone/>
            </a:pPr>
            <a:r>
              <a:rPr sz="1400" b="1"/>
              <a:t>•  Maximum: </a:t>
            </a:r>
            <a:r>
              <a:rPr sz="1400" b="0"/>
              <a:t>10,000 steps</a:t>
            </a:r>
          </a:p>
          <a:p>
            <a:pPr indent="0" marL="0">
              <a:buNone/>
            </a:pPr>
            <a:r>
              <a:rPr sz="1400" b="1"/>
              <a:t>•  Minimum: </a:t>
            </a:r>
            <a:r>
              <a:rPr sz="1400" b="0"/>
              <a:t>3,000 steps</a:t>
            </a:r>
          </a:p>
          <a:p>
            <a:pPr indent="0" marL="0">
              <a:buNone/>
            </a:pPr>
            <a:r>
              <a:rPr sz="1400" b="1"/>
              <a:t>•  Range: </a:t>
            </a:r>
            <a:r>
              <a:rPr sz="1400" b="0"/>
              <a:t>7,000 steps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Additional Measures of Spread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 b="1"/>
              <a:t>•  Variance: </a:t>
            </a:r>
            <a:r>
              <a:rPr sz="1400" b="0"/>
              <a:t>2,617,651.14 steps²</a:t>
            </a:r>
          </a:p>
          <a:p>
            <a:pPr indent="0" marL="0">
              <a:buNone/>
            </a:pPr>
            <a:r>
              <a:rPr sz="1400" b="1"/>
              <a:t>•  Q1 (25th Percentile): </a:t>
            </a:r>
            <a:r>
              <a:rPr sz="1400" b="0"/>
              <a:t>5,600 steps</a:t>
            </a:r>
          </a:p>
          <a:p>
            <a:pPr indent="0" marL="0">
              <a:buNone/>
            </a:pPr>
            <a:r>
              <a:rPr sz="1400" b="1"/>
              <a:t>•  Q3 (75th Percentile): </a:t>
            </a:r>
            <a:r>
              <a:rPr sz="1400" b="0"/>
              <a:t>8,000 steps</a:t>
            </a:r>
          </a:p>
          <a:p>
            <a:pPr indent="0" marL="0">
              <a:buNone/>
            </a:pPr>
            <a:r>
              <a:rPr sz="1400" b="1"/>
              <a:t>•  Interquartile Range (IQR): </a:t>
            </a:r>
            <a:r>
              <a:rPr sz="1400" b="0"/>
              <a:t>2,400 steps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400"/>
              <a:t>The IQR of 2,400 steps shows that the middle 50% of participants</a:t>
            </a:r>
          </a:p>
          <a:p>
            <a:pPr indent="0" marL="0">
              <a:buNone/>
            </a:pPr>
            <a:r>
              <a:rPr sz="1400"/>
              <a:t>take between 5,600 and 8,000 steps daily.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457200" y="1828800"/>
            <a:ext cx="4114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Measures of Center: </a:t>
            </a:r>
            <a:r>
              <a:rPr sz="1200" b="0"/>
              <a:t>Mean = 70.17,</a:t>
            </a:r>
            <a:endParaRPr sz="3000">
              <a:solidFill>
                <a:srgbClr val="2D3D4A"/>
              </a:solidFill>
            </a:endParaRPr>
          </a:p>
          <a:p>
            <a:pPr indent="0" marL="0">
              <a:buNone/>
            </a:pPr>
            <a:r>
              <a:rPr sz="1200"/>
              <a:t>Median = 70.00, Mode = 68 bpm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200" b="1"/>
              <a:t>Distribution Shape: </a:t>
            </a:r>
            <a:r>
              <a:rPr sz="1200" b="0"/>
              <a:t>Right-skewed</a:t>
            </a:r>
          </a:p>
          <a:p>
            <a:pPr indent="0" marL="0">
              <a:buNone/>
            </a:pPr>
            <a:r>
              <a:rPr sz="1200"/>
              <a:t>Mean (70.17) &gt; Median (70.00)</a:t>
            </a:r>
          </a:p>
          <a:p>
            <a:pPr indent="0" marL="0">
              <a:buNone/>
            </a:pPr>
            <a:r>
              <a:rPr sz="1200"/>
              <a:t>confirms a right-skewed distribution.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200" b="1"/>
              <a:t>Outliers: </a:t>
            </a:r>
            <a:r>
              <a:rPr sz="1200" b="0"/>
              <a:t>15 detected (IQR method)</a:t>
            </a:r>
          </a:p>
          <a:p>
            <a:pPr indent="0" marL="0">
              <a:buNone/>
            </a:pPr>
            <a:r>
              <a:rPr sz="1200"/>
              <a:t>Values above 78 bpm are outliers:</a:t>
            </a:r>
          </a:p>
          <a:p>
            <a:pPr indent="0" marL="0">
              <a:buNone/>
            </a:pPr>
            <a:r>
              <a:rPr sz="1200"/>
              <a:t>80, 81, 82, 83, 84, 85, 86 bpm</a:t>
            </a:r>
          </a:p>
          <a:p>
            <a:pPr indent="0" marL="0">
              <a:spcAft>
                <a:spcPts val="400"/>
              </a:spcAft>
              <a:buNone/>
            </a:pPr>
          </a:p>
          <a:p>
            <a:pPr indent="0" marL="0">
              <a:buNone/>
            </a:pPr>
            <a:r>
              <a:rPr sz="1200"/>
              <a:t>Q1=68, Q3=72, IQR=4</a:t>
            </a:r>
          </a:p>
          <a:p>
            <a:pPr indent="0" marL="0">
              <a:buNone/>
            </a:pPr>
            <a:r>
              <a:rPr sz="1200"/>
              <a:t>Upper fence = Q3+1.5×IQR = 78</a:t>
            </a:r>
          </a:p>
        </p:txBody>
      </p:sp>
      <p:pic>
        <p:nvPicPr>
          <p:cNvPr id="149" name="Picture 148" descr="heart_rat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