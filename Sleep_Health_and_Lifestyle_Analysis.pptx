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</p:sldIdLst>
  <p:sldSz cy="10287000" cx="18288000"/>
  <p:notesSz cx="6858000" cy="9144000"/>
  <p:embeddedFontLst>
    <p:embeddedFont>
      <p:font typeface="Roboto Mono Light"/>
      <p:regular r:id="rId13"/>
      <p:bold r:id="rId14"/>
      <p:italic r:id="rId15"/>
      <p:boldItalic r:id="rId16"/>
    </p:embeddedFont>
    <p:embeddedFont>
      <p:font typeface="Open Sans Light"/>
      <p:regular r:id="rId17"/>
      <p:bold r:id="rId18"/>
      <p:italic r:id="rId19"/>
      <p:boldItalic r:id="rId20"/>
    </p:embeddedFont>
    <p:embeddedFont>
      <p:font typeface="Open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40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40" orient="horz"/>
        <p:guide pos="576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font" Target="fonts/RobotoMonoLight-regular.fntdata"/><Relationship Id="rId14" Type="http://schemas.openxmlformats.org/officeDocument/2006/relationships/font" Target="fonts/RobotoMonoLight-bold.fntdata"/><Relationship Id="rId15" Type="http://schemas.openxmlformats.org/officeDocument/2006/relationships/font" Target="fonts/RobotoMonoLight-italic.fntdata"/><Relationship Id="rId16" Type="http://schemas.openxmlformats.org/officeDocument/2006/relationships/font" Target="fonts/RobotoMonoLight-boldItalic.fntdata"/><Relationship Id="rId17" Type="http://schemas.openxmlformats.org/officeDocument/2006/relationships/font" Target="fonts/OpenSansLight-regular.fntdata"/><Relationship Id="rId18" Type="http://schemas.openxmlformats.org/officeDocument/2006/relationships/font" Target="fonts/OpenSansLight-bold.fntdata"/><Relationship Id="rId19" Type="http://schemas.openxmlformats.org/officeDocument/2006/relationships/font" Target="fonts/OpenSansLight-italic.fntdata"/><Relationship Id="rId20" Type="http://schemas.openxmlformats.org/officeDocument/2006/relationships/font" Target="fonts/OpenSansLight-boldItalic.fntdata"/><Relationship Id="rId21" Type="http://schemas.openxmlformats.org/officeDocument/2006/relationships/font" Target="fonts/OpenSans-regular.fntdata"/><Relationship Id="rId22" Type="http://schemas.openxmlformats.org/officeDocument/2006/relationships/font" Target="fonts/OpenSans-bold.fntdata"/><Relationship Id="rId23" Type="http://schemas.openxmlformats.org/officeDocument/2006/relationships/font" Target="fonts/OpenSans-italic.fntdata"/><Relationship Id="rId24" Type="http://schemas.openxmlformats.org/officeDocument/2006/relationships/font" Target="fonts/Open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05b2e72063_0_23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05b2e72063_0_23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13dd687b2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13dd687b2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13dd687b2d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13dd687b2d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13dd687b2d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13dd687b2d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13dd687b2d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13dd687b2d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13dd687b2d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13dd687b2d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.a Lesson Title ">
  <p:cSld name="TITLE_1">
    <p:bg>
      <p:bgPr>
        <a:solidFill>
          <a:schemeClr val="dk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-3409" l="0" r="0" t="3419"/>
          <a:stretch/>
        </p:blipFill>
        <p:spPr>
          <a:xfrm>
            <a:off x="1239650" y="1254250"/>
            <a:ext cx="2877300" cy="54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ctrTitle"/>
          </p:nvPr>
        </p:nvSpPr>
        <p:spPr>
          <a:xfrm>
            <a:off x="1225200" y="2813950"/>
            <a:ext cx="10070400" cy="2479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Font typeface="Open Sans Light"/>
              <a:buNone/>
              <a:defRPr sz="9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13" name="Google Shape;13;p2"/>
          <p:cNvSpPr txBox="1"/>
          <p:nvPr/>
        </p:nvSpPr>
        <p:spPr>
          <a:xfrm>
            <a:off x="1225200" y="5937550"/>
            <a:ext cx="10070400" cy="12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1256200" y="5959675"/>
            <a:ext cx="10039800" cy="83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  <p:grpSp>
        <p:nvGrpSpPr>
          <p:cNvPr id="15" name="Google Shape;15;p2"/>
          <p:cNvGrpSpPr/>
          <p:nvPr/>
        </p:nvGrpSpPr>
        <p:grpSpPr>
          <a:xfrm>
            <a:off x="1232067" y="1034380"/>
            <a:ext cx="3497101" cy="986219"/>
            <a:chOff x="989538" y="1051025"/>
            <a:chExt cx="3377536" cy="952500"/>
          </a:xfrm>
        </p:grpSpPr>
        <p:pic>
          <p:nvPicPr>
            <p:cNvPr id="16" name="Google Shape;16;p2"/>
            <p:cNvPicPr preferRelativeResize="0"/>
            <p:nvPr/>
          </p:nvPicPr>
          <p:blipFill rotWithShape="1">
            <a:blip r:embed="rId2">
              <a:alphaModFix/>
            </a:blip>
            <a:srcRect b="-3409" l="0" r="0" t="3419"/>
            <a:stretch/>
          </p:blipFill>
          <p:spPr>
            <a:xfrm>
              <a:off x="1239650" y="1254250"/>
              <a:ext cx="2877300" cy="5460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2"/>
            <p:cNvSpPr/>
            <p:nvPr/>
          </p:nvSpPr>
          <p:spPr>
            <a:xfrm>
              <a:off x="995600" y="1051025"/>
              <a:ext cx="3365400" cy="952500"/>
            </a:xfrm>
            <a:prstGeom prst="rect">
              <a:avLst/>
            </a:prstGeom>
            <a:solidFill>
              <a:srgbClr val="171A53"/>
            </a:solidFill>
            <a:ln cap="flat" cmpd="sng" w="9525">
              <a:solidFill>
                <a:srgbClr val="171A5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0">
                <a:solidFill>
                  <a:srgbClr val="171A53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18" name="Google Shape;18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89538" y="1058076"/>
              <a:ext cx="3377536" cy="9384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.b Lesson Title (Designer or Producer Only)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type="title"/>
          </p:nvPr>
        </p:nvSpPr>
        <p:spPr>
          <a:xfrm>
            <a:off x="1225200" y="3735300"/>
            <a:ext cx="15837600" cy="2816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600"/>
              <a:buFont typeface="Open Sans Light"/>
              <a:buNone/>
              <a:defRPr sz="76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23" name="Google Shape;23;p3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a Full Bullet">
  <p:cSld name="TITLE_AND_BODY_1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" name="Google Shape;27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685825" y="1828800"/>
            <a:ext cx="169164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" name="Google Shape;30;p4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1" name="Google Shape;31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936">
          <p15:clr>
            <a:schemeClr val="accent1"/>
          </p15:clr>
        </p15:guide>
        <p15:guide id="6" orient="horz" pos="5328">
          <p15:clr>
            <a:schemeClr val="accent1"/>
          </p15:clr>
        </p15:guide>
        <p15:guide id="7" orient="horz" pos="1152">
          <p15:clr>
            <a:schemeClr val="accent1"/>
          </p15:clr>
        </p15:guide>
        <p15:guide id="8" pos="5760">
          <p15:clr>
            <a:srgbClr val="E46962"/>
          </p15:clr>
        </p15:guide>
        <p15:guide id="9" orient="horz" pos="3132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g Full Graphic">
  <p:cSld name="TITLE_ONLY_1_1_1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300" y="0"/>
            <a:ext cx="18288000" cy="113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5"/>
          <p:cNvSpPr txBox="1"/>
          <p:nvPr>
            <p:ph type="title"/>
          </p:nvPr>
        </p:nvSpPr>
        <p:spPr>
          <a:xfrm>
            <a:off x="685800" y="0"/>
            <a:ext cx="16916400" cy="11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Open Sans Light"/>
              <a:buNone/>
              <a:defRPr sz="4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5" name="Google Shape;3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7750" y="9434275"/>
            <a:ext cx="2619803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5760">
          <p15:clr>
            <a:schemeClr val="accent1"/>
          </p15:clr>
        </p15:guide>
        <p15:guide id="4" orient="horz" pos="717">
          <p15:clr>
            <a:schemeClr val="accent1"/>
          </p15:clr>
        </p15:guide>
        <p15:guide id="5" pos="5760">
          <p15:clr>
            <a:srgbClr val="E46962"/>
          </p15:clr>
        </p15:guide>
        <p15:guide id="6" orient="horz" pos="3240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b Third Card">
  <p:cSld name="TITLE_AND_BODY_1_1_1_3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6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9" name="Google Shape;3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6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6"/>
          <p:cNvSpPr/>
          <p:nvPr/>
        </p:nvSpPr>
        <p:spPr>
          <a:xfrm>
            <a:off x="11623800" y="684300"/>
            <a:ext cx="5978400" cy="7774200"/>
          </a:xfrm>
          <a:prstGeom prst="round1Rect">
            <a:avLst>
              <a:gd fmla="val 28421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6"/>
          <p:cNvSpPr txBox="1"/>
          <p:nvPr/>
        </p:nvSpPr>
        <p:spPr>
          <a:xfrm>
            <a:off x="12058350" y="1523388"/>
            <a:ext cx="39150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t/>
            </a:r>
            <a:endParaRPr b="1" sz="26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3" name="Google Shape;43;p6"/>
          <p:cNvSpPr txBox="1"/>
          <p:nvPr>
            <p:ph idx="1" type="body"/>
          </p:nvPr>
        </p:nvSpPr>
        <p:spPr>
          <a:xfrm>
            <a:off x="12058350" y="2629500"/>
            <a:ext cx="5109600" cy="539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6"/>
          <p:cNvSpPr txBox="1"/>
          <p:nvPr>
            <p:ph idx="2" type="subTitle"/>
          </p:nvPr>
        </p:nvSpPr>
        <p:spPr>
          <a:xfrm>
            <a:off x="12058350" y="1120500"/>
            <a:ext cx="4868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45" name="Google Shape;45;p6"/>
          <p:cNvSpPr txBox="1"/>
          <p:nvPr>
            <p:ph type="title"/>
          </p:nvPr>
        </p:nvSpPr>
        <p:spPr>
          <a:xfrm>
            <a:off x="685800" y="307975"/>
            <a:ext cx="102522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3" type="body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5328">
          <p15:clr>
            <a:schemeClr val="accent1"/>
          </p15:clr>
        </p15:guide>
        <p15:guide id="6" pos="10814">
          <p15:clr>
            <a:schemeClr val="accent1"/>
          </p15:clr>
        </p15:guide>
        <p15:guide id="7" pos="7596">
          <p15:clr>
            <a:schemeClr val="accent1"/>
          </p15:clr>
        </p15:guide>
        <p15:guide id="8" orient="horz" pos="5054">
          <p15:clr>
            <a:schemeClr val="accent2"/>
          </p15:clr>
        </p15:guide>
        <p15:guide id="9" pos="6890">
          <p15:clr>
            <a:schemeClr val="accent1"/>
          </p15:clr>
        </p15:guide>
        <p15:guide id="10" pos="7322">
          <p15:clr>
            <a:schemeClr val="accent1"/>
          </p15:clr>
        </p15:guide>
        <p15:guide id="11" orient="horz" pos="1152">
          <p15:clr>
            <a:schemeClr val="accent2"/>
          </p15:clr>
        </p15:guide>
        <p15:guide id="12" orient="horz" pos="939">
          <p15:clr>
            <a:schemeClr val="accent1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c Half Card">
  <p:cSld name="TITLE_AND_BODY_1_1_1_2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7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50" name="Google Shape;50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7"/>
          <p:cNvSpPr/>
          <p:nvPr/>
        </p:nvSpPr>
        <p:spPr>
          <a:xfrm>
            <a:off x="9829800" y="684300"/>
            <a:ext cx="7772400" cy="77742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10264500" y="2194800"/>
            <a:ext cx="6903000" cy="582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4" name="Google Shape;54;p7"/>
          <p:cNvSpPr txBox="1"/>
          <p:nvPr>
            <p:ph idx="2" type="subTitle"/>
          </p:nvPr>
        </p:nvSpPr>
        <p:spPr>
          <a:xfrm>
            <a:off x="10264500" y="1120500"/>
            <a:ext cx="6662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55" name="Google Shape;55;p7"/>
          <p:cNvSpPr txBox="1"/>
          <p:nvPr>
            <p:ph type="title"/>
          </p:nvPr>
        </p:nvSpPr>
        <p:spPr>
          <a:xfrm>
            <a:off x="685800" y="307975"/>
            <a:ext cx="95790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10814">
          <p15:clr>
            <a:schemeClr val="accent1"/>
          </p15:clr>
        </p15:guide>
        <p15:guide id="6" pos="6466">
          <p15:clr>
            <a:schemeClr val="accent1"/>
          </p15:clr>
        </p15:guide>
        <p15:guide id="7" orient="horz" pos="5054">
          <p15:clr>
            <a:schemeClr val="accent2"/>
          </p15:clr>
        </p15:guide>
        <p15:guide id="8" pos="5760">
          <p15:clr>
            <a:schemeClr val="accent1"/>
          </p15:clr>
        </p15:guide>
        <p15:guide id="9" pos="6192">
          <p15:clr>
            <a:schemeClr val="accent1"/>
          </p15:clr>
        </p15:guide>
        <p15:guide id="10" orient="horz" pos="1152">
          <p15:clr>
            <a:schemeClr val="accent2"/>
          </p15:clr>
        </p15:guide>
        <p15:guide id="11" orient="horz" pos="939">
          <p15:clr>
            <a:schemeClr val="accent1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e Dual Card">
  <p:cSld name="CUSTOM_1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8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60" name="Google Shape;6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8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8"/>
          <p:cNvSpPr/>
          <p:nvPr/>
        </p:nvSpPr>
        <p:spPr>
          <a:xfrm>
            <a:off x="9487100" y="684300"/>
            <a:ext cx="8115000" cy="77742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8"/>
          <p:cNvSpPr/>
          <p:nvPr/>
        </p:nvSpPr>
        <p:spPr>
          <a:xfrm flipH="1" rot="-5400000">
            <a:off x="846450" y="495600"/>
            <a:ext cx="7786200" cy="81378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8"/>
          <p:cNvSpPr txBox="1"/>
          <p:nvPr>
            <p:ph idx="1" type="body"/>
          </p:nvPr>
        </p:nvSpPr>
        <p:spPr>
          <a:xfrm>
            <a:off x="1120500" y="1935300"/>
            <a:ext cx="7245600" cy="60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5" name="Google Shape;65;p8"/>
          <p:cNvSpPr txBox="1"/>
          <p:nvPr>
            <p:ph idx="2" type="subTitle"/>
          </p:nvPr>
        </p:nvSpPr>
        <p:spPr>
          <a:xfrm>
            <a:off x="1120500" y="1007100"/>
            <a:ext cx="7245600" cy="6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66" name="Google Shape;66;p8"/>
          <p:cNvSpPr txBox="1"/>
          <p:nvPr>
            <p:ph idx="3" type="body"/>
          </p:nvPr>
        </p:nvSpPr>
        <p:spPr>
          <a:xfrm>
            <a:off x="9921800" y="1935300"/>
            <a:ext cx="7245600" cy="60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7" name="Google Shape;67;p8"/>
          <p:cNvSpPr txBox="1"/>
          <p:nvPr>
            <p:ph idx="4" type="subTitle"/>
          </p:nvPr>
        </p:nvSpPr>
        <p:spPr>
          <a:xfrm>
            <a:off x="9921800" y="1007100"/>
            <a:ext cx="7245600" cy="6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80">
          <p15:clr>
            <a:srgbClr val="FF0000"/>
          </p15:clr>
        </p15:guide>
        <p15:guide id="2" pos="5760">
          <p15:clr>
            <a:srgbClr val="FF0000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5553">
          <p15:clr>
            <a:schemeClr val="accent1"/>
          </p15:clr>
        </p15:guide>
        <p15:guide id="6" pos="597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pos="706">
          <p15:clr>
            <a:schemeClr val="accent1"/>
          </p15:clr>
        </p15:guide>
        <p15:guide id="10" pos="5275">
          <p15:clr>
            <a:schemeClr val="accent1"/>
          </p15:clr>
        </p15:guide>
        <p15:guide id="11" pos="6250">
          <p15:clr>
            <a:schemeClr val="accent1"/>
          </p15:clr>
        </p15:guide>
        <p15:guide id="12" pos="10814">
          <p15:clr>
            <a:schemeClr val="accent1"/>
          </p15:clr>
        </p15:guide>
        <p15:guide id="13" orient="horz" pos="1219">
          <p15:clr>
            <a:schemeClr val="accent2"/>
          </p15:clr>
        </p15:guide>
        <p15:guide id="14" orient="horz" pos="5054">
          <p15:clr>
            <a:schemeClr val="accent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f Triple Card ">
  <p:cSld name="CUSTOM_11_1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9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9"/>
          <p:cNvSpPr/>
          <p:nvPr/>
        </p:nvSpPr>
        <p:spPr>
          <a:xfrm>
            <a:off x="6547175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9"/>
          <p:cNvSpPr/>
          <p:nvPr/>
        </p:nvSpPr>
        <p:spPr>
          <a:xfrm>
            <a:off x="685800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9"/>
          <p:cNvSpPr/>
          <p:nvPr/>
        </p:nvSpPr>
        <p:spPr>
          <a:xfrm>
            <a:off x="12408550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9"/>
          <p:cNvSpPr txBox="1"/>
          <p:nvPr>
            <p:ph idx="1" type="body"/>
          </p:nvPr>
        </p:nvSpPr>
        <p:spPr>
          <a:xfrm>
            <a:off x="1120500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7" name="Google Shape;77;p9"/>
          <p:cNvSpPr txBox="1"/>
          <p:nvPr>
            <p:ph idx="2" type="subTitle"/>
          </p:nvPr>
        </p:nvSpPr>
        <p:spPr>
          <a:xfrm>
            <a:off x="1134750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78" name="Google Shape;78;p9"/>
          <p:cNvSpPr txBox="1"/>
          <p:nvPr>
            <p:ph idx="3" type="body"/>
          </p:nvPr>
        </p:nvSpPr>
        <p:spPr>
          <a:xfrm>
            <a:off x="6981875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" name="Google Shape;79;p9"/>
          <p:cNvSpPr txBox="1"/>
          <p:nvPr>
            <p:ph idx="4" type="subTitle"/>
          </p:nvPr>
        </p:nvSpPr>
        <p:spPr>
          <a:xfrm>
            <a:off x="6996125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80" name="Google Shape;80;p9"/>
          <p:cNvSpPr txBox="1"/>
          <p:nvPr>
            <p:ph idx="5" type="body"/>
          </p:nvPr>
        </p:nvSpPr>
        <p:spPr>
          <a:xfrm>
            <a:off x="12843250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1" name="Google Shape;81;p9"/>
          <p:cNvSpPr txBox="1"/>
          <p:nvPr>
            <p:ph idx="6" type="subTitle"/>
          </p:nvPr>
        </p:nvSpPr>
        <p:spPr>
          <a:xfrm>
            <a:off x="12857500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82" name="Google Shape;82;p9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3355">
          <p15:clr>
            <a:srgbClr val="FF0000"/>
          </p15:clr>
        </p15:guide>
        <p15:guide id="2" pos="4124">
          <p15:clr>
            <a:schemeClr val="accent1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3703">
          <p15:clr>
            <a:schemeClr val="accent1"/>
          </p15:clr>
        </p15:guide>
        <p15:guide id="6" pos="739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orient="horz" pos="1219">
          <p15:clr>
            <a:schemeClr val="accent1"/>
          </p15:clr>
        </p15:guide>
        <p15:guide id="10" pos="7816">
          <p15:clr>
            <a:schemeClr val="accent1"/>
          </p15:clr>
        </p15:guide>
        <p15:guide id="11" orient="horz" pos="939">
          <p15:clr>
            <a:schemeClr val="accent1"/>
          </p15:clr>
        </p15:guide>
        <p15:guide id="12" pos="2068">
          <p15:clr>
            <a:srgbClr val="E46962"/>
          </p15:clr>
        </p15:guide>
        <p15:guide id="13" pos="5760">
          <p15:clr>
            <a:srgbClr val="E46962"/>
          </p15:clr>
        </p15:guide>
        <p15:guide id="14" pos="9452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. Code">
  <p:cSld name="TITLE_AND_BODY_1_1_1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86" name="Google Shape;8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0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0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89" name="Google Shape;89;p10"/>
          <p:cNvSpPr txBox="1"/>
          <p:nvPr>
            <p:ph idx="1" type="body"/>
          </p:nvPr>
        </p:nvSpPr>
        <p:spPr>
          <a:xfrm>
            <a:off x="685800" y="1554750"/>
            <a:ext cx="169164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orient="horz" pos="3154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. Dual Code">
  <p:cSld name="TITLE_AND_BODY_1_1_1_1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3" name="Google Shape;9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1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1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96" name="Google Shape;96;p11"/>
          <p:cNvSpPr txBox="1"/>
          <p:nvPr>
            <p:ph idx="1" type="body"/>
          </p:nvPr>
        </p:nvSpPr>
        <p:spPr>
          <a:xfrm>
            <a:off x="685800" y="1554750"/>
            <a:ext cx="82410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9361350" y="1554750"/>
            <a:ext cx="82410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pos="5623">
          <p15:clr>
            <a:schemeClr val="accent1"/>
          </p15:clr>
        </p15:guide>
        <p15:guide id="9" pos="5897">
          <p15:clr>
            <a:schemeClr val="accent1"/>
          </p15:clr>
        </p15:guide>
        <p15:guide id="10" orient="horz" pos="3240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. Quote Full Card">
  <p:cSld name="CUSTOM_14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2"/>
          <p:cNvSpPr/>
          <p:nvPr/>
        </p:nvSpPr>
        <p:spPr>
          <a:xfrm flipH="1">
            <a:off x="1285650" y="1009650"/>
            <a:ext cx="15717000" cy="8268000"/>
          </a:xfrm>
          <a:prstGeom prst="round2DiagRect">
            <a:avLst>
              <a:gd fmla="val 20143" name="adj1"/>
              <a:gd fmla="val 0" name="adj2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2"/>
          <p:cNvSpPr txBox="1"/>
          <p:nvPr>
            <p:ph idx="1" type="body"/>
          </p:nvPr>
        </p:nvSpPr>
        <p:spPr>
          <a:xfrm>
            <a:off x="2110650" y="1908000"/>
            <a:ext cx="14067000" cy="6471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533400" lvl="0" marL="4572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-533400" lvl="1" marL="9144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-533400" lvl="2" marL="13716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-533400" lvl="3" marL="18288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-533400" lvl="4" marL="22860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-533400" lvl="5" marL="27432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-533400" lvl="6" marL="32004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-533400" lvl="7" marL="36576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-533400" lvl="8" marL="41148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225200" y="1210250"/>
            <a:ext cx="15837600" cy="12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 Light"/>
              <a:buNone/>
              <a:defRPr sz="5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225200" y="3107750"/>
            <a:ext cx="15837600" cy="60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Char char="●"/>
              <a:defRPr sz="3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419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Char char="○"/>
              <a:defRPr sz="3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810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810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810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810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810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810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810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rtl="0" algn="r">
              <a:buNone/>
              <a:defRPr sz="2000">
                <a:solidFill>
                  <a:schemeClr val="dk2"/>
                </a:solidFill>
              </a:defRPr>
            </a:lvl1pPr>
            <a:lvl2pPr lvl="1" rtl="0" algn="r">
              <a:buNone/>
              <a:defRPr sz="2000">
                <a:solidFill>
                  <a:schemeClr val="dk2"/>
                </a:solidFill>
              </a:defRPr>
            </a:lvl2pPr>
            <a:lvl3pPr lvl="2" rtl="0" algn="r">
              <a:buNone/>
              <a:defRPr sz="2000">
                <a:solidFill>
                  <a:schemeClr val="dk2"/>
                </a:solidFill>
              </a:defRPr>
            </a:lvl3pPr>
            <a:lvl4pPr lvl="3" rtl="0" algn="r">
              <a:buNone/>
              <a:defRPr sz="2000">
                <a:solidFill>
                  <a:schemeClr val="dk2"/>
                </a:solidFill>
              </a:defRPr>
            </a:lvl4pPr>
            <a:lvl5pPr lvl="4" rtl="0" algn="r">
              <a:buNone/>
              <a:defRPr sz="2000">
                <a:solidFill>
                  <a:schemeClr val="dk2"/>
                </a:solidFill>
              </a:defRPr>
            </a:lvl5pPr>
            <a:lvl6pPr lvl="5" rtl="0" algn="r">
              <a:buNone/>
              <a:defRPr sz="2000">
                <a:solidFill>
                  <a:schemeClr val="dk2"/>
                </a:solidFill>
              </a:defRPr>
            </a:lvl6pPr>
            <a:lvl7pPr lvl="6" rtl="0" algn="r">
              <a:buNone/>
              <a:defRPr sz="2000">
                <a:solidFill>
                  <a:schemeClr val="dk2"/>
                </a:solidFill>
              </a:defRPr>
            </a:lvl7pPr>
            <a:lvl8pPr lvl="7" rtl="0" algn="r">
              <a:buNone/>
              <a:defRPr sz="2000">
                <a:solidFill>
                  <a:schemeClr val="dk2"/>
                </a:solidFill>
              </a:defRPr>
            </a:lvl8pPr>
            <a:lvl9pPr lvl="8" rtl="0" algn="r">
              <a:buNone/>
              <a:defRPr sz="2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7" name="Google Shape;107;p13"/>
          <p:cNvSpPr txBox="1"/>
          <p:nvPr>
            <p:ph type="ctrTitle"/>
          </p:nvPr>
        </p:nvSpPr>
        <p:spPr>
          <a:xfrm>
            <a:off x="1225200" y="2813950"/>
            <a:ext cx="10070400" cy="247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Open Sans"/>
              <a:buNone/>
            </a:pPr>
            <a:r>
              <a:rPr lang="en"/>
              <a:t>Sleep Health and Lifestyle Analysis</a:t>
            </a:r>
            <a:endParaRPr sz="1000"/>
          </a:p>
        </p:txBody>
      </p:sp>
      <p:sp>
        <p:nvSpPr>
          <p:cNvPr id="108" name="Google Shape;108;p13"/>
          <p:cNvSpPr txBox="1"/>
          <p:nvPr>
            <p:ph idx="1" type="subTitle"/>
          </p:nvPr>
        </p:nvSpPr>
        <p:spPr>
          <a:xfrm>
            <a:off x="1256200" y="5959675"/>
            <a:ext cx="10039800" cy="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rPr lang="en"/>
              <a:t>Descriptive Statistics and Data Exploration</a:t>
            </a:r>
            <a:endParaRPr b="1"/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t/>
            </a:r>
            <a:endParaRPr b="1"/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t/>
            </a:r>
            <a:endParaRPr b="1"/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rPr b="1" lang="en"/>
              <a:t>Data Scientist: Tyrone Wilcoxson</a:t>
            </a:r>
            <a:endParaRPr b="1"/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t/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5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Agenda</a:t>
            </a:r>
            <a:endParaRPr sz="6400"/>
          </a:p>
        </p:txBody>
      </p:sp>
      <p:sp>
        <p:nvSpPr>
          <p:cNvPr id="124" name="Google Shape;124;p15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Results of sleep health and lifestyle analysis</a:t>
            </a:r>
            <a:endParaRPr sz="3000">
              <a:solidFill>
                <a:srgbClr val="2D3D4A"/>
              </a:solidFill>
            </a:endParaRPr>
          </a:p>
          <a:p>
            <a:pPr indent="-723900" lvl="0" marL="91440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Data Description</a:t>
            </a:r>
            <a:endParaRPr sz="4200"/>
          </a:p>
          <a:p>
            <a:pPr indent="-723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Typical Amount of Physical Activity</a:t>
            </a:r>
            <a:endParaRPr sz="4200"/>
          </a:p>
          <a:p>
            <a:pPr indent="-723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Number of Daily Steps</a:t>
            </a:r>
            <a:endParaRPr sz="4200"/>
          </a:p>
          <a:p>
            <a:pPr indent="-723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Distribution of Heart Rates</a:t>
            </a:r>
            <a:endParaRPr sz="3000">
              <a:solidFill>
                <a:srgbClr val="2D3D4A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r>
              <a:t/>
            </a:r>
            <a:endParaRPr sz="3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Data Description</a:t>
            </a:r>
            <a:endParaRPr sz="6400"/>
          </a:p>
        </p:txBody>
      </p:sp>
      <p:sp>
        <p:nvSpPr>
          <p:cNvPr id="130" name="Google Shape;130;p16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/>
              <a:t>Sleep Duration (hours)</a:t>
            </a:r>
            <a:r>
              <a:rPr sz="1400" b="0"/>
              <a:t> is an example of a </a:t>
            </a:r>
            <a:r>
              <a:rPr sz="1400" b="1"/>
              <a:t>continuous</a:t>
            </a:r>
            <a:r>
              <a:rPr sz="1400" b="0"/>
              <a:t> variable in the dataset.</a:t>
            </a:r>
            <a:endParaRPr sz="3000">
              <a:solidFill>
                <a:srgbClr val="2D3D4A"/>
              </a:solidFill>
            </a:endParaRPr>
          </a:p>
          <a:p>
            <a:r>
              <a:rPr sz="1400"/>
              <a:t>    Values such as 5.9, 6.1, and 7.8 can take any real number within a range.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Daily Steps</a:t>
            </a:r>
            <a:r>
              <a:rPr sz="1400" b="0"/>
              <a:t> is an example of an </a:t>
            </a:r>
            <a:r>
              <a:rPr sz="1400" b="1"/>
              <a:t>integer</a:t>
            </a:r>
            <a:r>
              <a:rPr sz="1400" b="0"/>
              <a:t> variable in the dataset.</a:t>
            </a:r>
          </a:p>
          <a:p>
            <a:r>
              <a:rPr sz="1400"/>
              <a:t>    Values such as 3,000, 5,600, and 10,000 are whole numbers.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Quality of Sleep (scale: 1–10)</a:t>
            </a:r>
            <a:r>
              <a:rPr sz="1400" b="0"/>
              <a:t> is an example of an </a:t>
            </a:r>
            <a:r>
              <a:rPr sz="1400" b="1"/>
              <a:t>ordinal categorical</a:t>
            </a:r>
            <a:r>
              <a:rPr sz="1400" b="0"/>
              <a:t> variable in the dataset.</a:t>
            </a:r>
          </a:p>
          <a:p>
            <a:r>
              <a:rPr sz="1400"/>
              <a:t>    The ratings have a meaningful order from low (1) to high (10).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Gender</a:t>
            </a:r>
            <a:r>
              <a:rPr sz="1400" b="0"/>
              <a:t> is an example of a </a:t>
            </a:r>
            <a:r>
              <a:rPr sz="1400" b="1"/>
              <a:t>nominal categorical</a:t>
            </a:r>
            <a:r>
              <a:rPr sz="1400" b="0"/>
              <a:t> variable in the dataset.</a:t>
            </a:r>
          </a:p>
          <a:p>
            <a:r>
              <a:rPr sz="1400"/>
              <a:t>    Categories (Male, Female) have no inherent order or ranking.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Typical Amount (Minutes) of Physical Activity</a:t>
            </a:r>
            <a:endParaRPr sz="6400"/>
          </a:p>
        </p:txBody>
      </p:sp>
      <p:sp>
        <p:nvSpPr>
          <p:cNvPr id="136" name="Google Shape;136;p17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/>
              <a:t>Measures of Center</a:t>
            </a:r>
            <a:endParaRPr sz="3000">
              <a:solidFill>
                <a:srgbClr val="2D3D4A"/>
              </a:solidFill>
            </a:endParaRPr>
          </a:p>
          <a:p>
            <a:pPr>
              <a:spcAft>
                <a:spcPts val="400"/>
              </a:spcAft>
            </a:pPr>
          </a:p>
          <a:p>
            <a:r>
              <a:rPr sz="1400" b="1"/>
              <a:t>•  Mean: </a:t>
            </a:r>
            <a:r>
              <a:rPr sz="1400" b="0"/>
              <a:t>59.17 minutes per day</a:t>
            </a:r>
          </a:p>
          <a:p>
            <a:r>
              <a:rPr sz="1400" b="1"/>
              <a:t>•  Median: </a:t>
            </a:r>
            <a:r>
              <a:rPr sz="1400" b="0"/>
              <a:t>60.00 minutes per day</a:t>
            </a:r>
          </a:p>
          <a:p>
            <a:r>
              <a:rPr sz="1400" b="1"/>
              <a:t>•  Mode: </a:t>
            </a:r>
            <a:r>
              <a:rPr sz="1400" b="0"/>
              <a:t>60 minutes per day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Distribution Shape (Mean vs. Median)</a:t>
            </a:r>
          </a:p>
          <a:p>
            <a:pPr>
              <a:spcAft>
                <a:spcPts val="400"/>
              </a:spcAft>
            </a:pPr>
          </a:p>
          <a:p>
            <a:r>
              <a:rPr sz="1400"/>
              <a:t>The mean (59.17) is very close to the median (60.00), indicating</a:t>
            </a:r>
          </a:p>
          <a:p>
            <a:r>
              <a:rPr sz="1400"/>
              <a:t>the distribution is approximately symmetric. The mean is slightly</a:t>
            </a:r>
          </a:p>
          <a:p>
            <a:r>
              <a:rPr sz="1400"/>
              <a:t>less than the median, which can suggest a minor left tail, but the</a:t>
            </a:r>
          </a:p>
          <a:p>
            <a:r>
              <a:rPr sz="1400"/>
              <a:t>difference is negligible—the distribution of physical activity</a:t>
            </a:r>
          </a:p>
          <a:p>
            <a:r>
              <a:rPr sz="1400"/>
              <a:t>levels is effectively symmetric.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8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Analysis of Daily Steps Taken</a:t>
            </a:r>
            <a:endParaRPr sz="6400"/>
          </a:p>
        </p:txBody>
      </p:sp>
      <p:sp>
        <p:nvSpPr>
          <p:cNvPr id="142" name="Google Shape;142;p18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/>
              <a:t>Measures of Spread</a:t>
            </a:r>
            <a:endParaRPr sz="3000">
              <a:solidFill>
                <a:srgbClr val="2D3D4A"/>
              </a:solidFill>
            </a:endParaRPr>
          </a:p>
          <a:p>
            <a:pPr>
              <a:spcAft>
                <a:spcPts val="400"/>
              </a:spcAft>
            </a:pPr>
          </a:p>
          <a:p>
            <a:r>
              <a:rPr sz="1400" b="1"/>
              <a:t>•  Standard Deviation: </a:t>
            </a:r>
            <a:r>
              <a:rPr sz="1400" b="0"/>
              <a:t>1,617.92 steps</a:t>
            </a:r>
          </a:p>
          <a:p>
            <a:r>
              <a:rPr sz="1400" b="1"/>
              <a:t>•  Maximum: </a:t>
            </a:r>
            <a:r>
              <a:rPr sz="1400" b="0"/>
              <a:t>10,000 steps</a:t>
            </a:r>
          </a:p>
          <a:p>
            <a:r>
              <a:rPr sz="1400" b="1"/>
              <a:t>•  Minimum: </a:t>
            </a:r>
            <a:r>
              <a:rPr sz="1400" b="0"/>
              <a:t>3,000 steps</a:t>
            </a:r>
          </a:p>
          <a:p>
            <a:r>
              <a:rPr sz="1400" b="1"/>
              <a:t>•  Range: </a:t>
            </a:r>
            <a:r>
              <a:rPr sz="1400" b="0"/>
              <a:t>7,000 steps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Additional Measures of Spread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•  Variance: </a:t>
            </a:r>
            <a:r>
              <a:rPr sz="1400" b="0"/>
              <a:t>2,617,651.14 steps²</a:t>
            </a:r>
          </a:p>
          <a:p>
            <a:r>
              <a:rPr sz="1400" b="1"/>
              <a:t>•  Q1 (25th Percentile): </a:t>
            </a:r>
            <a:r>
              <a:rPr sz="1400" b="0"/>
              <a:t>5,600 steps</a:t>
            </a:r>
          </a:p>
          <a:p>
            <a:r>
              <a:rPr sz="1400" b="1"/>
              <a:t>•  Q3 (75th Percentile): </a:t>
            </a:r>
            <a:r>
              <a:rPr sz="1400" b="0"/>
              <a:t>8,000 steps</a:t>
            </a:r>
          </a:p>
          <a:p>
            <a:r>
              <a:rPr sz="1400" b="1"/>
              <a:t>•  Interquartile Range (IQR): </a:t>
            </a:r>
            <a:r>
              <a:rPr sz="1400" b="0"/>
              <a:t>2,400 steps</a:t>
            </a:r>
          </a:p>
          <a:p>
            <a:pPr>
              <a:spcAft>
                <a:spcPts val="400"/>
              </a:spcAft>
            </a:pPr>
          </a:p>
          <a:p>
            <a:r>
              <a:rPr sz="1400"/>
              <a:t>The IQR of 2,400 steps shows that the middle 50% of participants</a:t>
            </a:r>
          </a:p>
          <a:p>
            <a:r>
              <a:rPr sz="1400"/>
              <a:t>take between 5,600 and 8,000 steps daily.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Distribution of Heart Rates</a:t>
            </a:r>
            <a:endParaRPr sz="6400"/>
          </a:p>
        </p:txBody>
      </p:sp>
      <p:sp>
        <p:nvSpPr>
          <p:cNvPr id="148" name="Google Shape;148;p19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Measures of Center: </a:t>
            </a:r>
            <a:r>
              <a:rPr sz="1300" b="0"/>
              <a:t>Mean = 70.17, Median = 70.00, Mode = 68 bpm</a:t>
            </a:r>
            <a:endParaRPr sz="3000">
              <a:solidFill>
                <a:srgbClr val="2D3D4A"/>
              </a:solidFill>
            </a:endParaRPr>
          </a:p>
          <a:p>
            <a:pPr>
              <a:spcAft>
                <a:spcPts val="400"/>
              </a:spcAft>
            </a:pPr>
          </a:p>
          <a:p>
            <a:r>
              <a:rPr sz="1300" b="1"/>
              <a:t>Distribution Shape (Mean vs. Median): </a:t>
            </a:r>
            <a:r>
              <a:rPr sz="1300" b="0"/>
              <a:t>Right-skewed (positive skew)</a:t>
            </a:r>
          </a:p>
          <a:p>
            <a:r>
              <a:rPr sz="1300"/>
              <a:t>The mean (70.17) is greater than the median (70.00), confirming a</a:t>
            </a:r>
          </a:p>
          <a:p>
            <a:r>
              <a:rPr sz="1300"/>
              <a:t>right-skewed distribution with a tail toward higher heart rates.</a:t>
            </a:r>
          </a:p>
          <a:p>
            <a:pPr>
              <a:spcAft>
                <a:spcPts val="400"/>
              </a:spcAft>
            </a:pPr>
          </a:p>
          <a:p>
            <a:r>
              <a:rPr sz="1300" b="1"/>
              <a:t>Outliers (IQR Method): </a:t>
            </a:r>
            <a:r>
              <a:rPr sz="1300" b="0"/>
              <a:t>15 outliers detected</a:t>
            </a:r>
          </a:p>
          <a:p>
            <a:r>
              <a:rPr sz="1300"/>
              <a:t>Heart rates above 78 bpm are outliers: 80, 81, 82, 83, 84, 85, 86 bpm.</a:t>
            </a:r>
          </a:p>
          <a:p>
            <a:r>
              <a:rPr sz="1300"/>
              <a:t>(Q1 = 68, Q3 = 72, IQR = 4, Upper fence = Q3 + 1.5 × IQR = 78 bpm)</a:t>
            </a:r>
          </a:p>
        </p:txBody>
      </p:sp>
      <p:pic>
        <p:nvPicPr>
          <p:cNvPr id="149" name="Picture 148" descr="heart_rat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01168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Udacity 2024 Student Template">
  <a:themeElements>
    <a:clrScheme name="Simple Light">
      <a:dk1>
        <a:srgbClr val="0B0B0B"/>
      </a:dk1>
      <a:lt1>
        <a:srgbClr val="FFFFFF"/>
      </a:lt1>
      <a:dk2>
        <a:srgbClr val="171A53"/>
      </a:dk2>
      <a:lt2>
        <a:srgbClr val="F6F6F6"/>
      </a:lt2>
      <a:accent1>
        <a:srgbClr val="2015FF"/>
      </a:accent1>
      <a:accent2>
        <a:srgbClr val="00C5A1"/>
      </a:accent2>
      <a:accent3>
        <a:srgbClr val="DBE2E8"/>
      </a:accent3>
      <a:accent4>
        <a:srgbClr val="BDEA09"/>
      </a:accent4>
      <a:accent5>
        <a:srgbClr val="6597FF"/>
      </a:accent5>
      <a:accent6>
        <a:srgbClr val="B181FF"/>
      </a:accent6>
      <a:hlink>
        <a:srgbClr val="2015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