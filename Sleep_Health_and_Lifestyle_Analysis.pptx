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</p:sldIdLst>
  <p:sldSz cy="10287000" cx="18288000"/>
  <p:notesSz cx="6858000" cy="9144000"/>
  <p:embeddedFontLst>
    <p:embeddedFont>
      <p:font typeface="Roboto Mono Light"/>
      <p:regular r:id="rId13"/>
      <p:bold r:id="rId14"/>
      <p:italic r:id="rId15"/>
      <p:boldItalic r:id="rId16"/>
    </p:embeddedFont>
    <p:embeddedFont>
      <p:font typeface="Open Sans Light"/>
      <p:regular r:id="rId17"/>
      <p:bold r:id="rId18"/>
      <p:italic r:id="rId19"/>
      <p:boldItalic r:id="rId20"/>
    </p:embeddedFont>
    <p:embeddedFont>
      <p:font typeface="Open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240">
          <p15:clr>
            <a:srgbClr val="A4A3A4"/>
          </p15:clr>
        </p15:guide>
        <p15:guide id="2" pos="57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240" orient="horz"/>
        <p:guide pos="576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font" Target="fonts/RobotoMonoLight-regular.fntdata"/><Relationship Id="rId14" Type="http://schemas.openxmlformats.org/officeDocument/2006/relationships/font" Target="fonts/RobotoMonoLight-bold.fntdata"/><Relationship Id="rId15" Type="http://schemas.openxmlformats.org/officeDocument/2006/relationships/font" Target="fonts/RobotoMonoLight-italic.fntdata"/><Relationship Id="rId16" Type="http://schemas.openxmlformats.org/officeDocument/2006/relationships/font" Target="fonts/RobotoMonoLight-boldItalic.fntdata"/><Relationship Id="rId17" Type="http://schemas.openxmlformats.org/officeDocument/2006/relationships/font" Target="fonts/OpenSansLight-regular.fntdata"/><Relationship Id="rId18" Type="http://schemas.openxmlformats.org/officeDocument/2006/relationships/font" Target="fonts/OpenSansLight-bold.fntdata"/><Relationship Id="rId19" Type="http://schemas.openxmlformats.org/officeDocument/2006/relationships/font" Target="fonts/OpenSansLight-italic.fntdata"/><Relationship Id="rId20" Type="http://schemas.openxmlformats.org/officeDocument/2006/relationships/font" Target="fonts/OpenSansLight-boldItalic.fntdata"/><Relationship Id="rId21" Type="http://schemas.openxmlformats.org/officeDocument/2006/relationships/font" Target="fonts/OpenSans-regular.fntdata"/><Relationship Id="rId22" Type="http://schemas.openxmlformats.org/officeDocument/2006/relationships/font" Target="fonts/OpenSans-bold.fntdata"/><Relationship Id="rId23" Type="http://schemas.openxmlformats.org/officeDocument/2006/relationships/font" Target="fonts/OpenSans-italic.fntdata"/><Relationship Id="rId24" Type="http://schemas.openxmlformats.org/officeDocument/2006/relationships/font" Target="fonts/Open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05b2e72063_0_23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05b2e72063_0_23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13dd687b2d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13dd687b2d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13dd687b2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13dd687b2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13dd687b2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13dd687b2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13dd687b2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13dd687b2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13dd687b2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13dd687b2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a Lesson Title ">
  <p:cSld name="TITLE_1">
    <p:bg>
      <p:bgPr>
        <a:solidFill>
          <a:schemeClr val="dk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-3409" l="0" r="0" t="3419"/>
          <a:stretch/>
        </p:blipFill>
        <p:spPr>
          <a:xfrm>
            <a:off x="1239650" y="1254250"/>
            <a:ext cx="2877300" cy="546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1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0"/>
              <a:buFont typeface="Open Sans Light"/>
              <a:buNone/>
              <a:defRPr sz="9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Font typeface="Open Sans Light"/>
              <a:buNone/>
              <a:defRPr sz="100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13" name="Google Shape;13;p2"/>
          <p:cNvSpPr txBox="1"/>
          <p:nvPr/>
        </p:nvSpPr>
        <p:spPr>
          <a:xfrm>
            <a:off x="1225200" y="5937550"/>
            <a:ext cx="10070400" cy="12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9pPr>
          </a:lstStyle>
          <a:p/>
        </p:txBody>
      </p:sp>
      <p:grpSp>
        <p:nvGrpSpPr>
          <p:cNvPr id="15" name="Google Shape;15;p2"/>
          <p:cNvGrpSpPr/>
          <p:nvPr/>
        </p:nvGrpSpPr>
        <p:grpSpPr>
          <a:xfrm>
            <a:off x="1232067" y="1034380"/>
            <a:ext cx="3497101" cy="986219"/>
            <a:chOff x="989538" y="1051025"/>
            <a:chExt cx="3377536" cy="952500"/>
          </a:xfrm>
        </p:grpSpPr>
        <p:pic>
          <p:nvPicPr>
            <p:cNvPr id="16" name="Google Shape;16;p2"/>
            <p:cNvPicPr preferRelativeResize="0"/>
            <p:nvPr/>
          </p:nvPicPr>
          <p:blipFill rotWithShape="1">
            <a:blip r:embed="rId2">
              <a:alphaModFix/>
            </a:blip>
            <a:srcRect b="-3409" l="0" r="0" t="3419"/>
            <a:stretch/>
          </p:blipFill>
          <p:spPr>
            <a:xfrm>
              <a:off x="1239650" y="1254250"/>
              <a:ext cx="2877300" cy="5460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" name="Google Shape;17;p2"/>
            <p:cNvSpPr/>
            <p:nvPr/>
          </p:nvSpPr>
          <p:spPr>
            <a:xfrm>
              <a:off x="995600" y="1051025"/>
              <a:ext cx="3365400" cy="952500"/>
            </a:xfrm>
            <a:prstGeom prst="rect">
              <a:avLst/>
            </a:prstGeom>
            <a:solidFill>
              <a:srgbClr val="171A53"/>
            </a:solidFill>
            <a:ln cap="flat" cmpd="sng" w="9525">
              <a:solidFill>
                <a:srgbClr val="171A5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182850" lIns="182850" spcFirstLastPara="1" rIns="182850" wrap="square" tIns="1828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800">
                <a:solidFill>
                  <a:srgbClr val="171A53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pic>
          <p:nvPicPr>
            <p:cNvPr id="18" name="Google Shape;18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989538" y="1058076"/>
              <a:ext cx="3377536" cy="9384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.b Lesson Title (Designer or Producer Only)">
  <p:cSld name="SECTION_HEADER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type="title"/>
          </p:nvPr>
        </p:nvSpPr>
        <p:spPr>
          <a:xfrm>
            <a:off x="1225200" y="3735300"/>
            <a:ext cx="15837600" cy="28164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600"/>
              <a:buFont typeface="Open Sans Light"/>
              <a:buNone/>
              <a:defRPr sz="76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200"/>
              <a:buFont typeface="Open Sans Light"/>
              <a:buNone/>
              <a:defRPr sz="72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23" name="Google Shape;23;p3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a Full Bullet">
  <p:cSld name="TITLE_AND_BODY_1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7" name="Google Shape;2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685825" y="1828800"/>
            <a:ext cx="169164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0" name="Google Shape;30;p4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1" name="Google Shape;31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936">
          <p15:clr>
            <a:schemeClr val="accent1"/>
          </p15:clr>
        </p15:guide>
        <p15:guide id="6" orient="horz" pos="5328">
          <p15:clr>
            <a:schemeClr val="accent1"/>
          </p15:clr>
        </p15:guide>
        <p15:guide id="7" orient="horz" pos="1152">
          <p15:clr>
            <a:schemeClr val="accent1"/>
          </p15:clr>
        </p15:guide>
        <p15:guide id="8" pos="5760">
          <p15:clr>
            <a:srgbClr val="E46962"/>
          </p15:clr>
        </p15:guide>
        <p15:guide id="9" orient="horz" pos="31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g Full Graphic">
  <p:cSld name="TITLE_ONLY_1_1_1">
    <p:bg>
      <p:bgPr>
        <a:solidFill>
          <a:schemeClr val="lt1"/>
        </a:solid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/>
          <p:nvPr/>
        </p:nvSpPr>
        <p:spPr>
          <a:xfrm>
            <a:off x="300" y="0"/>
            <a:ext cx="18288000" cy="113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182850" lIns="182850" spcFirstLastPara="1" rIns="182850" wrap="square" tIns="1828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 txBox="1"/>
          <p:nvPr>
            <p:ph type="title"/>
          </p:nvPr>
        </p:nvSpPr>
        <p:spPr>
          <a:xfrm>
            <a:off x="685800" y="0"/>
            <a:ext cx="16916400" cy="11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Open Sans Light"/>
              <a:buNone/>
              <a:defRPr sz="4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667750" y="9434275"/>
            <a:ext cx="2619803" cy="62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5760">
          <p15:clr>
            <a:schemeClr val="accent1"/>
          </p15:clr>
        </p15:guide>
        <p15:guide id="4" orient="horz" pos="717">
          <p15:clr>
            <a:schemeClr val="accent1"/>
          </p15:clr>
        </p15:guide>
        <p15:guide id="5" pos="5760">
          <p15:clr>
            <a:srgbClr val="E46962"/>
          </p15:clr>
        </p15:guide>
        <p15:guide id="6" orient="horz" pos="3240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b Third Card">
  <p:cSld name="TITLE_AND_BODY_1_1_1_3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37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38;p6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39" name="Google Shape;39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6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6"/>
          <p:cNvSpPr/>
          <p:nvPr/>
        </p:nvSpPr>
        <p:spPr>
          <a:xfrm>
            <a:off x="11623800" y="684300"/>
            <a:ext cx="5978400" cy="7774200"/>
          </a:xfrm>
          <a:prstGeom prst="round1Rect">
            <a:avLst>
              <a:gd fmla="val 28421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6"/>
          <p:cNvSpPr txBox="1"/>
          <p:nvPr/>
        </p:nvSpPr>
        <p:spPr>
          <a:xfrm>
            <a:off x="12058350" y="1523388"/>
            <a:ext cx="39150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t/>
            </a:r>
            <a:endParaRPr b="1" sz="26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43" name="Google Shape;43;p6"/>
          <p:cNvSpPr txBox="1"/>
          <p:nvPr>
            <p:ph idx="1" type="body"/>
          </p:nvPr>
        </p:nvSpPr>
        <p:spPr>
          <a:xfrm>
            <a:off x="12058350" y="2629500"/>
            <a:ext cx="5109600" cy="5394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6"/>
          <p:cNvSpPr txBox="1"/>
          <p:nvPr>
            <p:ph idx="2" type="subTitle"/>
          </p:nvPr>
        </p:nvSpPr>
        <p:spPr>
          <a:xfrm>
            <a:off x="12058350" y="1120500"/>
            <a:ext cx="4868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45" name="Google Shape;45;p6"/>
          <p:cNvSpPr txBox="1"/>
          <p:nvPr>
            <p:ph type="title"/>
          </p:nvPr>
        </p:nvSpPr>
        <p:spPr>
          <a:xfrm>
            <a:off x="685800" y="307975"/>
            <a:ext cx="102522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760">
          <p15:clr>
            <a:schemeClr val="accent1"/>
          </p15:clr>
        </p15:guide>
        <p15:guide id="5" orient="horz" pos="5328">
          <p15:clr>
            <a:schemeClr val="accent1"/>
          </p15:clr>
        </p15:guide>
        <p15:guide id="6" pos="10814">
          <p15:clr>
            <a:schemeClr val="accent1"/>
          </p15:clr>
        </p15:guide>
        <p15:guide id="7" pos="7596">
          <p15:clr>
            <a:schemeClr val="accent1"/>
          </p15:clr>
        </p15:guide>
        <p15:guide id="8" orient="horz" pos="5054">
          <p15:clr>
            <a:schemeClr val="accent2"/>
          </p15:clr>
        </p15:guide>
        <p15:guide id="9" pos="6890">
          <p15:clr>
            <a:schemeClr val="accent1"/>
          </p15:clr>
        </p15:guide>
        <p15:guide id="10" pos="7322">
          <p15:clr>
            <a:schemeClr val="accent1"/>
          </p15:clr>
        </p15:guide>
        <p15:guide id="11" orient="horz" pos="1152">
          <p15:clr>
            <a:schemeClr val="accent2"/>
          </p15:clr>
        </p15:guide>
        <p15:guide id="12" orient="horz" pos="939">
          <p15:clr>
            <a:schemeClr val="accent1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c Half Card">
  <p:cSld name="TITLE_AND_BODY_1_1_1_2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Google Shape;48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7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50" name="Google Shape;50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7"/>
          <p:cNvSpPr/>
          <p:nvPr/>
        </p:nvSpPr>
        <p:spPr>
          <a:xfrm>
            <a:off x="9829800" y="684300"/>
            <a:ext cx="77724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10264500" y="2194800"/>
            <a:ext cx="6903000" cy="582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4" name="Google Shape;54;p7"/>
          <p:cNvSpPr txBox="1"/>
          <p:nvPr>
            <p:ph idx="2" type="subTitle"/>
          </p:nvPr>
        </p:nvSpPr>
        <p:spPr>
          <a:xfrm>
            <a:off x="10264500" y="1120500"/>
            <a:ext cx="6662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55" name="Google Shape;55;p7"/>
          <p:cNvSpPr txBox="1"/>
          <p:nvPr>
            <p:ph type="title"/>
          </p:nvPr>
        </p:nvSpPr>
        <p:spPr>
          <a:xfrm>
            <a:off x="685800" y="307975"/>
            <a:ext cx="95790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685825" y="1828800"/>
            <a:ext cx="102522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432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10814">
          <p15:clr>
            <a:schemeClr val="accent1"/>
          </p15:clr>
        </p15:guide>
        <p15:guide id="6" pos="6466">
          <p15:clr>
            <a:schemeClr val="accent1"/>
          </p15:clr>
        </p15:guide>
        <p15:guide id="7" orient="horz" pos="5054">
          <p15:clr>
            <a:schemeClr val="accent2"/>
          </p15:clr>
        </p15:guide>
        <p15:guide id="8" pos="5760">
          <p15:clr>
            <a:schemeClr val="accent1"/>
          </p15:clr>
        </p15:guide>
        <p15:guide id="9" pos="6192">
          <p15:clr>
            <a:schemeClr val="accent1"/>
          </p15:clr>
        </p15:guide>
        <p15:guide id="10" orient="horz" pos="1152">
          <p15:clr>
            <a:schemeClr val="accent2"/>
          </p15:clr>
        </p15:guide>
        <p15:guide id="11" orient="horz" pos="939">
          <p15:clr>
            <a:schemeClr val="accent1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e Dual Card">
  <p:cSld name="CUSTOM_1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8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60" name="Google Shape;6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8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8"/>
          <p:cNvSpPr/>
          <p:nvPr/>
        </p:nvSpPr>
        <p:spPr>
          <a:xfrm>
            <a:off x="9487100" y="684300"/>
            <a:ext cx="8115000" cy="77742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8"/>
          <p:cNvSpPr/>
          <p:nvPr/>
        </p:nvSpPr>
        <p:spPr>
          <a:xfrm flipH="1" rot="-5400000">
            <a:off x="846450" y="495600"/>
            <a:ext cx="7786200" cy="81378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p8"/>
          <p:cNvSpPr txBox="1"/>
          <p:nvPr>
            <p:ph idx="1" type="body"/>
          </p:nvPr>
        </p:nvSpPr>
        <p:spPr>
          <a:xfrm>
            <a:off x="11205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5" name="Google Shape;65;p8"/>
          <p:cNvSpPr txBox="1"/>
          <p:nvPr>
            <p:ph idx="2" type="subTitle"/>
          </p:nvPr>
        </p:nvSpPr>
        <p:spPr>
          <a:xfrm>
            <a:off x="11205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  <p:sp>
        <p:nvSpPr>
          <p:cNvPr id="66" name="Google Shape;66;p8"/>
          <p:cNvSpPr txBox="1"/>
          <p:nvPr>
            <p:ph idx="3" type="body"/>
          </p:nvPr>
        </p:nvSpPr>
        <p:spPr>
          <a:xfrm>
            <a:off x="9921800" y="1935300"/>
            <a:ext cx="7245600" cy="60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7" name="Google Shape;67;p8"/>
          <p:cNvSpPr txBox="1"/>
          <p:nvPr>
            <p:ph idx="4" type="subTitle"/>
          </p:nvPr>
        </p:nvSpPr>
        <p:spPr>
          <a:xfrm>
            <a:off x="9921800" y="1007100"/>
            <a:ext cx="7245600" cy="6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b="1" sz="3600"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2880">
          <p15:clr>
            <a:srgbClr val="FF0000"/>
          </p15:clr>
        </p15:guide>
        <p15:guide id="2" pos="5760">
          <p15:clr>
            <a:srgbClr val="FF0000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5553">
          <p15:clr>
            <a:schemeClr val="accent1"/>
          </p15:clr>
        </p15:guide>
        <p15:guide id="6" pos="597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pos="706">
          <p15:clr>
            <a:schemeClr val="accent1"/>
          </p15:clr>
        </p15:guide>
        <p15:guide id="10" pos="5275">
          <p15:clr>
            <a:schemeClr val="accent1"/>
          </p15:clr>
        </p15:guide>
        <p15:guide id="11" pos="6250">
          <p15:clr>
            <a:schemeClr val="accent1"/>
          </p15:clr>
        </p15:guide>
        <p15:guide id="12" pos="10814">
          <p15:clr>
            <a:schemeClr val="accent1"/>
          </p15:clr>
        </p15:guide>
        <p15:guide id="13" orient="horz" pos="1219">
          <p15:clr>
            <a:schemeClr val="accent2"/>
          </p15:clr>
        </p15:guide>
        <p15:guide id="14" orient="horz" pos="5054">
          <p15:clr>
            <a:schemeClr val="accent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.f Triple Card ">
  <p:cSld name="CUSTOM_11_1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9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/>
          <p:nvPr/>
        </p:nvSpPr>
        <p:spPr>
          <a:xfrm>
            <a:off x="-250" y="0"/>
            <a:ext cx="18288000" cy="9144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9"/>
          <p:cNvSpPr/>
          <p:nvPr/>
        </p:nvSpPr>
        <p:spPr>
          <a:xfrm>
            <a:off x="6547175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9"/>
          <p:cNvSpPr/>
          <p:nvPr/>
        </p:nvSpPr>
        <p:spPr>
          <a:xfrm>
            <a:off x="68580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" name="Google Shape;75;p9"/>
          <p:cNvSpPr/>
          <p:nvPr/>
        </p:nvSpPr>
        <p:spPr>
          <a:xfrm>
            <a:off x="12408550" y="1935900"/>
            <a:ext cx="5193600" cy="6522600"/>
          </a:xfrm>
          <a:prstGeom prst="round1Rect">
            <a:avLst>
              <a:gd fmla="val 22136" name="adj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9"/>
          <p:cNvSpPr txBox="1"/>
          <p:nvPr>
            <p:ph idx="1" type="body"/>
          </p:nvPr>
        </p:nvSpPr>
        <p:spPr>
          <a:xfrm>
            <a:off x="112050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9"/>
          <p:cNvSpPr txBox="1"/>
          <p:nvPr>
            <p:ph idx="2" type="subTitle"/>
          </p:nvPr>
        </p:nvSpPr>
        <p:spPr>
          <a:xfrm>
            <a:off x="113475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78" name="Google Shape;78;p9"/>
          <p:cNvSpPr txBox="1"/>
          <p:nvPr>
            <p:ph idx="3" type="body"/>
          </p:nvPr>
        </p:nvSpPr>
        <p:spPr>
          <a:xfrm>
            <a:off x="6981875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4" type="subTitle"/>
          </p:nvPr>
        </p:nvSpPr>
        <p:spPr>
          <a:xfrm>
            <a:off x="6996125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0" name="Google Shape;80;p9"/>
          <p:cNvSpPr txBox="1"/>
          <p:nvPr>
            <p:ph idx="5" type="body"/>
          </p:nvPr>
        </p:nvSpPr>
        <p:spPr>
          <a:xfrm>
            <a:off x="12843250" y="3278700"/>
            <a:ext cx="4324200" cy="4486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Char char="●"/>
              <a:defRPr>
                <a:solidFill>
                  <a:schemeClr val="dk1"/>
                </a:solidFill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Char char="○"/>
              <a:defRPr>
                <a:solidFill>
                  <a:schemeClr val="dk1"/>
                </a:solidFill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●"/>
              <a:defRPr>
                <a:solidFill>
                  <a:schemeClr val="dk1"/>
                </a:solidFill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○"/>
              <a:defRPr>
                <a:solidFill>
                  <a:schemeClr val="dk1"/>
                </a:solidFill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idx="6" type="subTitle"/>
          </p:nvPr>
        </p:nvSpPr>
        <p:spPr>
          <a:xfrm>
            <a:off x="12857500" y="2271600"/>
            <a:ext cx="4295400" cy="671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1pPr>
            <a:lvl2pPr lvl="1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2pPr>
            <a:lvl3pPr lvl="2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3pPr>
            <a:lvl4pPr lvl="3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4pPr>
            <a:lvl5pPr lvl="4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5pPr>
            <a:lvl6pPr lvl="5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6pPr>
            <a:lvl7pPr lvl="6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7pPr>
            <a:lvl8pPr lvl="7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8pPr>
            <a:lvl9pPr lvl="8" rtl="0">
              <a:spcBef>
                <a:spcPts val="0"/>
              </a:spcBef>
              <a:spcAft>
                <a:spcPts val="0"/>
              </a:spcAft>
              <a:buSzPts val="2600"/>
              <a:buNone/>
              <a:defRPr b="1" sz="2600"/>
            </a:lvl9pPr>
          </a:lstStyle>
          <a:p/>
        </p:txBody>
      </p:sp>
      <p:sp>
        <p:nvSpPr>
          <p:cNvPr id="82" name="Google Shape;82;p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5600"/>
              <a:buFont typeface="Open Sans Light"/>
              <a:buNone/>
              <a:defRPr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56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3355">
          <p15:clr>
            <a:srgbClr val="FF0000"/>
          </p15:clr>
        </p15:guide>
        <p15:guide id="2" pos="4124">
          <p15:clr>
            <a:schemeClr val="accent1"/>
          </p15:clr>
        </p15:guide>
        <p15:guide id="3" pos="423">
          <p15:clr>
            <a:schemeClr val="accent1"/>
          </p15:clr>
        </p15:guide>
        <p15:guide id="4" orient="horz" pos="423">
          <p15:clr>
            <a:schemeClr val="accent1"/>
          </p15:clr>
        </p15:guide>
        <p15:guide id="5" pos="3703">
          <p15:clr>
            <a:schemeClr val="accent1"/>
          </p15:clr>
        </p15:guide>
        <p15:guide id="6" pos="7396">
          <p15:clr>
            <a:schemeClr val="accent1"/>
          </p15:clr>
        </p15:guide>
        <p15:guide id="7" orient="horz" pos="5328">
          <p15:clr>
            <a:schemeClr val="accent1"/>
          </p15:clr>
        </p15:guide>
        <p15:guide id="8" pos="11088">
          <p15:clr>
            <a:schemeClr val="accent1"/>
          </p15:clr>
        </p15:guide>
        <p15:guide id="9" orient="horz" pos="1219">
          <p15:clr>
            <a:schemeClr val="accent1"/>
          </p15:clr>
        </p15:guide>
        <p15:guide id="10" pos="7816">
          <p15:clr>
            <a:schemeClr val="accent1"/>
          </p15:clr>
        </p15:guide>
        <p15:guide id="11" orient="horz" pos="939">
          <p15:clr>
            <a:schemeClr val="accent1"/>
          </p15:clr>
        </p15:guide>
        <p15:guide id="12" pos="2068">
          <p15:clr>
            <a:srgbClr val="E46962"/>
          </p15:clr>
        </p15:guide>
        <p15:guide id="13" pos="5760">
          <p15:clr>
            <a:srgbClr val="E46962"/>
          </p15:clr>
        </p15:guide>
        <p15:guide id="14" pos="9452">
          <p15:clr>
            <a:srgbClr val="E46962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Code">
  <p:cSld name="TITLE_AND_BODY_1_1_1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86" name="Google Shape;8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0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0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89" name="Google Shape;89;p10"/>
          <p:cNvSpPr txBox="1"/>
          <p:nvPr>
            <p:ph idx="1" type="body"/>
          </p:nvPr>
        </p:nvSpPr>
        <p:spPr>
          <a:xfrm>
            <a:off x="685800" y="1554750"/>
            <a:ext cx="169164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orient="horz" pos="3154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. Dual Code">
  <p:cSld name="TITLE_AND_BODY_1_1_1_1_2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9144000"/>
            <a:ext cx="18288000" cy="1143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/>
          <p:nvPr/>
        </p:nvSpPr>
        <p:spPr>
          <a:xfrm>
            <a:off x="576900" y="9439925"/>
            <a:ext cx="2610600" cy="620100"/>
          </a:xfrm>
          <a:prstGeom prst="rect">
            <a:avLst/>
          </a:prstGeom>
          <a:solidFill>
            <a:srgbClr val="14257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93" name="Google Shape;93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7760" y="9434283"/>
            <a:ext cx="2619805" cy="6201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1"/>
          <p:cNvSpPr/>
          <p:nvPr/>
        </p:nvSpPr>
        <p:spPr>
          <a:xfrm>
            <a:off x="-250" y="-750"/>
            <a:ext cx="18288000" cy="9144000"/>
          </a:xfrm>
          <a:prstGeom prst="rect">
            <a:avLst/>
          </a:prstGeom>
          <a:solidFill>
            <a:srgbClr val="F0F0F0"/>
          </a:solidFill>
          <a:ln>
            <a:noFill/>
          </a:ln>
          <a:effectLst>
            <a:outerShdw blurRad="714375" rotWithShape="0" algn="bl" dir="5400000" dist="238125">
              <a:srgbClr val="000000">
                <a:alpha val="25000"/>
              </a:srgbClr>
            </a:outerShdw>
          </a:effectLst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1"/>
          <p:cNvSpPr txBox="1"/>
          <p:nvPr/>
        </p:nvSpPr>
        <p:spPr>
          <a:xfrm>
            <a:off x="685800" y="434400"/>
            <a:ext cx="16916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2000"/>
              </a:spcAft>
              <a:buNone/>
            </a:pPr>
            <a:r>
              <a:rPr lang="en" sz="4800">
                <a:solidFill>
                  <a:srgbClr val="0B0B0B"/>
                </a:solidFill>
                <a:latin typeface="Open Sans Light"/>
                <a:ea typeface="Open Sans Light"/>
                <a:cs typeface="Open Sans Light"/>
                <a:sym typeface="Open Sans Light"/>
              </a:rPr>
              <a:t>Title Placeholder</a:t>
            </a:r>
            <a:endParaRPr sz="4800">
              <a:solidFill>
                <a:srgbClr val="0B0B0B"/>
              </a:solidFill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  <p:sp>
        <p:nvSpPr>
          <p:cNvPr id="96" name="Google Shape;96;p11"/>
          <p:cNvSpPr txBox="1"/>
          <p:nvPr>
            <p:ph idx="1" type="body"/>
          </p:nvPr>
        </p:nvSpPr>
        <p:spPr>
          <a:xfrm>
            <a:off x="68580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  <p:sp>
        <p:nvSpPr>
          <p:cNvPr id="97" name="Google Shape;97;p11"/>
          <p:cNvSpPr txBox="1"/>
          <p:nvPr>
            <p:ph idx="2" type="body"/>
          </p:nvPr>
        </p:nvSpPr>
        <p:spPr>
          <a:xfrm>
            <a:off x="9361350" y="1554750"/>
            <a:ext cx="8241000" cy="690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419100" lvl="0" marL="45720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●"/>
              <a:defRPr sz="3000"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1pPr>
            <a:lvl2pPr indent="-419100" lvl="1" marL="914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30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2pPr>
            <a:lvl3pPr indent="-381000" lvl="2" marL="1371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3pPr>
            <a:lvl4pPr indent="-381000" lvl="3" marL="18288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4pPr>
            <a:lvl5pPr indent="-381000" lvl="4" marL="22860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5pPr>
            <a:lvl6pPr indent="-381000" lvl="5" marL="27432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6pPr>
            <a:lvl7pPr indent="-381000" lvl="6" marL="32004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●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7pPr>
            <a:lvl8pPr indent="-381000" lvl="7" marL="3657600" rtl="0">
              <a:spcBef>
                <a:spcPts val="20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Roboto Mono Light"/>
              <a:buChar char="○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8pPr>
            <a:lvl9pPr indent="-381000" lvl="8" marL="4114800" rtl="0">
              <a:spcBef>
                <a:spcPts val="2000"/>
              </a:spcBef>
              <a:spcAft>
                <a:spcPts val="2000"/>
              </a:spcAft>
              <a:buClr>
                <a:schemeClr val="accent1"/>
              </a:buClr>
              <a:buSzPts val="2400"/>
              <a:buFont typeface="Roboto Mono Light"/>
              <a:buChar char="■"/>
              <a:defRPr>
                <a:solidFill>
                  <a:schemeClr val="dk1"/>
                </a:solidFill>
                <a:latin typeface="Roboto Mono Light"/>
                <a:ea typeface="Roboto Mono Light"/>
                <a:cs typeface="Roboto Mono Light"/>
                <a:sym typeface="Roboto Mono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">
          <p15:clr>
            <a:schemeClr val="accent1"/>
          </p15:clr>
        </p15:guide>
        <p15:guide id="2" pos="11088">
          <p15:clr>
            <a:schemeClr val="accent1"/>
          </p15:clr>
        </p15:guide>
        <p15:guide id="3" orient="horz" pos="979">
          <p15:clr>
            <a:schemeClr val="accent1"/>
          </p15:clr>
        </p15:guide>
        <p15:guide id="4" orient="horz" pos="5328">
          <p15:clr>
            <a:schemeClr val="accent1"/>
          </p15:clr>
        </p15:guide>
        <p15:guide id="5" pos="5760">
          <p15:clr>
            <a:srgbClr val="FF0000"/>
          </p15:clr>
        </p15:guide>
        <p15:guide id="6" orient="horz" pos="706">
          <p15:clr>
            <a:schemeClr val="accent1"/>
          </p15:clr>
        </p15:guide>
        <p15:guide id="7" orient="horz" pos="274">
          <p15:clr>
            <a:schemeClr val="accent1"/>
          </p15:clr>
        </p15:guide>
        <p15:guide id="8" pos="5623">
          <p15:clr>
            <a:schemeClr val="accent1"/>
          </p15:clr>
        </p15:guide>
        <p15:guide id="9" pos="5897">
          <p15:clr>
            <a:schemeClr val="accent1"/>
          </p15:clr>
        </p15:guide>
        <p15:guide id="10" orient="horz" pos="3240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. Quote Full Card">
  <p:cSld name="CUSTOM_14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4" y="0"/>
            <a:ext cx="18288000" cy="10286989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2"/>
          <p:cNvSpPr/>
          <p:nvPr/>
        </p:nvSpPr>
        <p:spPr>
          <a:xfrm flipH="1">
            <a:off x="1285650" y="1009650"/>
            <a:ext cx="15717000" cy="8268000"/>
          </a:xfrm>
          <a:prstGeom prst="round2DiagRect">
            <a:avLst>
              <a:gd fmla="val 20143" name="adj1"/>
              <a:gd fmla="val 0" name="adj2"/>
            </a:avLst>
          </a:prstGeom>
          <a:solidFill>
            <a:srgbClr val="F0F0F0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2"/>
          <p:cNvSpPr txBox="1"/>
          <p:nvPr>
            <p:ph idx="1" type="body"/>
          </p:nvPr>
        </p:nvSpPr>
        <p:spPr>
          <a:xfrm>
            <a:off x="2110650" y="1908000"/>
            <a:ext cx="14067000" cy="6471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533400" lvl="0" marL="457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-533400" lvl="1" marL="914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-533400" lvl="2" marL="1371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-533400" lvl="3" marL="1828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-533400" lvl="4" marL="22860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-533400" lvl="5" marL="27432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-533400" lvl="6" marL="32004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●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-533400" lvl="7" marL="36576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○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-533400" lvl="8" marL="4114800" rtl="0" algn="ctr">
              <a:spcBef>
                <a:spcPts val="0"/>
              </a:spcBef>
              <a:spcAft>
                <a:spcPts val="0"/>
              </a:spcAft>
              <a:buSzPts val="4800"/>
              <a:buFont typeface="Open Sans Light"/>
              <a:buChar char="■"/>
              <a:defRPr sz="4800"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225200" y="1210250"/>
            <a:ext cx="15837600" cy="129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 Light"/>
              <a:buNone/>
              <a:defRPr sz="5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00"/>
              <a:buFont typeface="Open Sans"/>
              <a:buNone/>
              <a:defRPr sz="5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225200" y="3107750"/>
            <a:ext cx="15837600" cy="60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4572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"/>
              <a:buChar char="●"/>
              <a:defRPr sz="36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4191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pen Sans"/>
              <a:buChar char="○"/>
              <a:defRPr sz="30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810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810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810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810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810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810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○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810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■"/>
              <a:defRPr sz="24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16944916" y="9326434"/>
            <a:ext cx="1097400" cy="78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82850" lIns="182850" spcFirstLastPara="1" rIns="182850" wrap="square" tIns="182850">
            <a:normAutofit/>
          </a:bodyPr>
          <a:lstStyle>
            <a:lvl1pPr lvl="0" rtl="0" algn="r">
              <a:buNone/>
              <a:defRPr sz="2000">
                <a:solidFill>
                  <a:schemeClr val="dk2"/>
                </a:solidFill>
              </a:defRPr>
            </a:lvl1pPr>
            <a:lvl2pPr lvl="1" rtl="0" algn="r">
              <a:buNone/>
              <a:defRPr sz="2000">
                <a:solidFill>
                  <a:schemeClr val="dk2"/>
                </a:solidFill>
              </a:defRPr>
            </a:lvl2pPr>
            <a:lvl3pPr lvl="2" rtl="0" algn="r">
              <a:buNone/>
              <a:defRPr sz="2000">
                <a:solidFill>
                  <a:schemeClr val="dk2"/>
                </a:solidFill>
              </a:defRPr>
            </a:lvl3pPr>
            <a:lvl4pPr lvl="3" rtl="0" algn="r">
              <a:buNone/>
              <a:defRPr sz="2000">
                <a:solidFill>
                  <a:schemeClr val="dk2"/>
                </a:solidFill>
              </a:defRPr>
            </a:lvl4pPr>
            <a:lvl5pPr lvl="4" rtl="0" algn="r">
              <a:buNone/>
              <a:defRPr sz="2000">
                <a:solidFill>
                  <a:schemeClr val="dk2"/>
                </a:solidFill>
              </a:defRPr>
            </a:lvl5pPr>
            <a:lvl6pPr lvl="5" rtl="0" algn="r">
              <a:buNone/>
              <a:defRPr sz="2000">
                <a:solidFill>
                  <a:schemeClr val="dk2"/>
                </a:solidFill>
              </a:defRPr>
            </a:lvl6pPr>
            <a:lvl7pPr lvl="6" rtl="0" algn="r">
              <a:buNone/>
              <a:defRPr sz="2000">
                <a:solidFill>
                  <a:schemeClr val="dk2"/>
                </a:solidFill>
              </a:defRPr>
            </a:lvl7pPr>
            <a:lvl8pPr lvl="7" rtl="0" algn="r">
              <a:buNone/>
              <a:defRPr sz="2000">
                <a:solidFill>
                  <a:schemeClr val="dk2"/>
                </a:solidFill>
              </a:defRPr>
            </a:lvl8pPr>
            <a:lvl9pPr lvl="8" rtl="0" algn="r">
              <a:buNone/>
              <a:defRPr sz="2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/>
        </p:nvSpPr>
        <p:spPr>
          <a:xfrm>
            <a:off x="279350" y="9860050"/>
            <a:ext cx="7915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7D97AD"/>
                </a:solidFill>
                <a:latin typeface="Open Sans"/>
                <a:ea typeface="Open Sans"/>
                <a:cs typeface="Open Sans"/>
                <a:sym typeface="Open Sans"/>
              </a:rPr>
              <a:t>© 2024 Udacity. </a:t>
            </a:r>
            <a:endParaRPr sz="1000">
              <a:solidFill>
                <a:srgbClr val="0B0B0B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7" name="Google Shape;107;p13"/>
          <p:cNvSpPr txBox="1"/>
          <p:nvPr>
            <p:ph type="ctrTitle"/>
          </p:nvPr>
        </p:nvSpPr>
        <p:spPr>
          <a:xfrm>
            <a:off x="1225200" y="2813950"/>
            <a:ext cx="10070400" cy="24798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Font typeface="Open Sans"/>
              <a:buNone/>
            </a:pPr>
            <a:r>
              <a:rPr lang="en"/>
              <a:t>Sleep Health and Lifestyle Analysis</a:t>
            </a:r>
            <a:endParaRPr sz="1000"/>
          </a:p>
        </p:txBody>
      </p:sp>
      <p:sp>
        <p:nvSpPr>
          <p:cNvPr id="108" name="Google Shape;108;p13"/>
          <p:cNvSpPr txBox="1"/>
          <p:nvPr>
            <p:ph idx="1" type="subTitle"/>
          </p:nvPr>
        </p:nvSpPr>
        <p:spPr>
          <a:xfrm>
            <a:off x="1256200" y="5959675"/>
            <a:ext cx="10039800" cy="832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lang="en"/>
              <a:t>Descriptive Statistics and Data Exploration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rPr b="1" lang="en"/>
              <a:t>Data Scientist: Tyrone Wilcoxson</a:t>
            </a:r>
            <a:endParaRPr b="1"/>
          </a:p>
          <a:p>
            <a:pPr indent="0" lvl="0" marL="0" marR="0" rtl="0" algn="l">
              <a:lnSpc>
                <a:spcPct val="131250"/>
              </a:lnSpc>
              <a:spcBef>
                <a:spcPts val="0"/>
              </a:spcBef>
              <a:spcAft>
                <a:spcPts val="0"/>
              </a:spcAft>
              <a:buClr>
                <a:srgbClr val="9CBDD8"/>
              </a:buClr>
              <a:buFont typeface="Open Sans"/>
              <a:buNone/>
            </a:pPr>
            <a:r>
              <a:t/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5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Agenda</a:t>
            </a:r>
            <a:endParaRPr sz="6400"/>
          </a:p>
        </p:txBody>
      </p:sp>
      <p:sp>
        <p:nvSpPr>
          <p:cNvPr id="124" name="Google Shape;124;p15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1"/>
                </a:solidFill>
              </a:rPr>
              <a:t>Results of sleep health and lifestyle analysis</a:t>
            </a:r>
            <a:endParaRPr sz="3000">
              <a:solidFill>
                <a:srgbClr val="2D3D4A"/>
              </a:solidFill>
            </a:endParaRPr>
          </a:p>
          <a:p>
            <a:pPr indent="-723900" lvl="0" marL="91440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Data Description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Typical Amount of Physical Activity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Number of Daily Steps</a:t>
            </a:r>
            <a:endParaRPr sz="4200"/>
          </a:p>
          <a:p>
            <a:pPr indent="-723900" lvl="0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Char char="●"/>
            </a:pPr>
            <a:r>
              <a:rPr lang="en" sz="4200"/>
              <a:t>Distribution of Heart Rates</a:t>
            </a:r>
            <a:endParaRPr sz="3000">
              <a:solidFill>
                <a:srgbClr val="2D3D4A"/>
              </a:solidFill>
            </a:endParaRPr>
          </a:p>
          <a:p>
            <a:pPr indent="0" lvl="0" marL="228600" rtl="0" algn="l">
              <a:lnSpc>
                <a:spcPct val="115000"/>
              </a:lnSpc>
              <a:spcBef>
                <a:spcPts val="1400"/>
              </a:spcBef>
              <a:spcAft>
                <a:spcPts val="2000"/>
              </a:spcAft>
              <a:buNone/>
            </a:pPr>
            <a:r>
              <a:t/>
            </a:r>
            <a:endParaRPr sz="30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6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Data Description</a:t>
            </a:r>
            <a:endParaRPr sz="6400"/>
          </a:p>
        </p:txBody>
      </p:sp>
      <p:sp>
        <p:nvSpPr>
          <p:cNvPr id="130" name="Google Shape;130;p16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Sleep Duration (hours)</a:t>
            </a:r>
            <a:r>
              <a:rPr sz="1400" b="0"/>
              <a:t> is an example of a </a:t>
            </a:r>
            <a:r>
              <a:rPr sz="1400" b="1"/>
              <a:t>continuous</a:t>
            </a:r>
            <a:r>
              <a:rPr sz="1400" b="0"/>
              <a:t> variable in the dataset.</a:t>
            </a:r>
            <a:endParaRPr sz="3000">
              <a:solidFill>
                <a:srgbClr val="2D3D4A"/>
              </a:solidFill>
            </a:endParaRPr>
          </a:p>
          <a:p>
            <a:r>
              <a:rPr sz="1400"/>
              <a:t>    Values such as 5.9, 6.1, and 7.8 can take any real number within a range.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Daily Steps</a:t>
            </a:r>
            <a:r>
              <a:rPr sz="1400" b="0"/>
              <a:t> is an example of an </a:t>
            </a:r>
            <a:r>
              <a:rPr sz="1400" b="1"/>
              <a:t>integer</a:t>
            </a:r>
            <a:r>
              <a:rPr sz="1400" b="0"/>
              <a:t> variable in the dataset.</a:t>
            </a:r>
          </a:p>
          <a:p>
            <a:r>
              <a:rPr sz="1400"/>
              <a:t>    Values such as 3,000, 5,600, and 10,000 are whole numbers.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Quality of Sleep (scale: 1–10)</a:t>
            </a:r>
            <a:r>
              <a:rPr sz="1400" b="0"/>
              <a:t> is an example of an </a:t>
            </a:r>
            <a:r>
              <a:rPr sz="1400" b="1"/>
              <a:t>ordinal categorical</a:t>
            </a:r>
            <a:r>
              <a:rPr sz="1400" b="0"/>
              <a:t> variable in the dataset.</a:t>
            </a:r>
          </a:p>
          <a:p>
            <a:r>
              <a:rPr sz="1400"/>
              <a:t>    The ratings have a meaningful order from low (1) to high (10).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Gender</a:t>
            </a:r>
            <a:r>
              <a:rPr sz="1400" b="0"/>
              <a:t> is an example of a </a:t>
            </a:r>
            <a:r>
              <a:rPr sz="1400" b="1"/>
              <a:t>nominal categorical</a:t>
            </a:r>
            <a:r>
              <a:rPr sz="1400" b="0"/>
              <a:t> variable in the dataset.</a:t>
            </a:r>
          </a:p>
          <a:p>
            <a:r>
              <a:rPr sz="1400"/>
              <a:t>    Categories (Male, Female) have no inherent order or ranking.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7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Typical Amount (Minutes) of Physical Activity</a:t>
            </a:r>
            <a:endParaRPr sz="6400"/>
          </a:p>
        </p:txBody>
      </p:sp>
      <p:sp>
        <p:nvSpPr>
          <p:cNvPr id="136" name="Google Shape;136;p17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Measures of Center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Mean: </a:t>
            </a:r>
            <a:r>
              <a:rPr sz="1400" b="0"/>
              <a:t>59.17 minutes per day</a:t>
            </a:r>
          </a:p>
          <a:p>
            <a:r>
              <a:rPr sz="1400" b="1"/>
              <a:t>•  Median: </a:t>
            </a:r>
            <a:r>
              <a:rPr sz="1400" b="0"/>
              <a:t>60.00 minutes per day</a:t>
            </a:r>
          </a:p>
          <a:p>
            <a:r>
              <a:rPr sz="1400" b="1"/>
              <a:t>•  Mode: </a:t>
            </a:r>
            <a:r>
              <a:rPr sz="1400" b="0"/>
              <a:t>60 minutes per day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Skewness Analysis</a:t>
            </a:r>
          </a:p>
          <a:p>
            <a:pPr>
              <a:spcAft>
                <a:spcPts val="400"/>
              </a:spcAft>
            </a:pPr>
          </a:p>
          <a:p>
            <a:r>
              <a:rPr sz="1400"/>
              <a:t>The mean (59.17) is slightly less than the median (60.00), which</a:t>
            </a:r>
          </a:p>
          <a:p>
            <a:r>
              <a:rPr sz="1400"/>
              <a:t>suggests the distribution is left-skewed (negatively skewed).</a:t>
            </a:r>
          </a:p>
          <a:p>
            <a:pPr>
              <a:spcAft>
                <a:spcPts val="400"/>
              </a:spcAft>
            </a:pPr>
          </a:p>
          <a:p>
            <a:r>
              <a:rPr sz="1400"/>
              <a:t>This indicates there is a slight tail toward lower physical activity</a:t>
            </a:r>
          </a:p>
          <a:p>
            <a:r>
              <a:rPr sz="1400"/>
              <a:t>values. However, the difference is small, so the distribution is</a:t>
            </a:r>
          </a:p>
          <a:p>
            <a:r>
              <a:rPr sz="1400"/>
              <a:t>nearly symmetric overall.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8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Analysis of Daily Steps Taken</a:t>
            </a:r>
            <a:endParaRPr sz="6400"/>
          </a:p>
        </p:txBody>
      </p:sp>
      <p:sp>
        <p:nvSpPr>
          <p:cNvPr id="142" name="Google Shape;142;p18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1"/>
              <a:t>Measures of Spread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Standard Deviation: </a:t>
            </a:r>
            <a:r>
              <a:rPr sz="1400" b="0"/>
              <a:t>1,617.92 steps</a:t>
            </a:r>
          </a:p>
          <a:p>
            <a:r>
              <a:rPr sz="1400" b="1"/>
              <a:t>•  Maximum: </a:t>
            </a:r>
            <a:r>
              <a:rPr sz="1400" b="0"/>
              <a:t>10,000 steps</a:t>
            </a:r>
          </a:p>
          <a:p>
            <a:r>
              <a:rPr sz="1400" b="1"/>
              <a:t>•  Minimum: </a:t>
            </a:r>
            <a:r>
              <a:rPr sz="1400" b="0"/>
              <a:t>3,000 steps</a:t>
            </a:r>
          </a:p>
          <a:p>
            <a:r>
              <a:rPr sz="1400" b="1"/>
              <a:t>•  Range: </a:t>
            </a:r>
            <a:r>
              <a:rPr sz="1400" b="0"/>
              <a:t>7,000 steps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Additional Measures of Spread</a:t>
            </a:r>
          </a:p>
          <a:p>
            <a:pPr>
              <a:spcAft>
                <a:spcPts val="400"/>
              </a:spcAft>
            </a:pPr>
          </a:p>
          <a:p>
            <a:r>
              <a:rPr sz="1400" b="1"/>
              <a:t>•  Variance: </a:t>
            </a:r>
            <a:r>
              <a:rPr sz="1400" b="0"/>
              <a:t>2,617,651.14 steps²</a:t>
            </a:r>
          </a:p>
          <a:p>
            <a:r>
              <a:rPr sz="1400" b="1"/>
              <a:t>•  Q1 (25th Percentile): </a:t>
            </a:r>
            <a:r>
              <a:rPr sz="1400" b="0"/>
              <a:t>5,600 steps</a:t>
            </a:r>
          </a:p>
          <a:p>
            <a:r>
              <a:rPr sz="1400" b="1"/>
              <a:t>•  Q3 (75th Percentile): </a:t>
            </a:r>
            <a:r>
              <a:rPr sz="1400" b="0"/>
              <a:t>8,000 steps</a:t>
            </a:r>
          </a:p>
          <a:p>
            <a:r>
              <a:rPr sz="1400" b="1"/>
              <a:t>•  Interquartile Range (IQR): </a:t>
            </a:r>
            <a:r>
              <a:rPr sz="1400" b="0"/>
              <a:t>2,400 steps</a:t>
            </a:r>
          </a:p>
          <a:p>
            <a:pPr>
              <a:spcAft>
                <a:spcPts val="400"/>
              </a:spcAft>
            </a:pPr>
          </a:p>
          <a:p>
            <a:r>
              <a:rPr sz="1400"/>
              <a:t>The IQR of 2,400 steps shows that the middle 50% of participants</a:t>
            </a:r>
          </a:p>
          <a:p>
            <a:r>
              <a:rPr sz="1400"/>
              <a:t>take between 5,600 and 8,000 steps daily.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 txBox="1"/>
          <p:nvPr>
            <p:ph type="title"/>
          </p:nvPr>
        </p:nvSpPr>
        <p:spPr>
          <a:xfrm>
            <a:off x="685800" y="307965"/>
            <a:ext cx="16916400" cy="15090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400"/>
              <a:t>Distribution of Heart Rates</a:t>
            </a:r>
            <a:endParaRPr sz="6400"/>
          </a:p>
        </p:txBody>
      </p:sp>
      <p:sp>
        <p:nvSpPr>
          <p:cNvPr id="148" name="Google Shape;148;p19"/>
          <p:cNvSpPr txBox="1"/>
          <p:nvPr>
            <p:ph idx="1" type="body"/>
          </p:nvPr>
        </p:nvSpPr>
        <p:spPr>
          <a:xfrm>
            <a:off x="685850" y="1828800"/>
            <a:ext cx="16393800" cy="6629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/>
              <a:t>Distribution Shape: </a:t>
            </a:r>
            <a:r>
              <a:rPr sz="1300" b="0"/>
              <a:t>Right-skewed (positive skew)</a:t>
            </a:r>
            <a:endParaRPr sz="3000">
              <a:solidFill>
                <a:srgbClr val="2D3D4A"/>
              </a:solidFill>
            </a:endParaRPr>
          </a:p>
          <a:p>
            <a:pPr>
              <a:spcAft>
                <a:spcPts val="400"/>
              </a:spcAft>
            </a:pPr>
          </a:p>
          <a:p>
            <a:r>
              <a:rPr sz="1300"/>
              <a:t>Most heart rates cluster between 65–75 bpm, with a tail</a:t>
            </a:r>
          </a:p>
          <a:p>
            <a:r>
              <a:rPr sz="1300"/>
              <a:t>extending toward higher values (up to 86 bpm).</a:t>
            </a:r>
          </a:p>
          <a:p>
            <a:pPr>
              <a:spcAft>
                <a:spcPts val="400"/>
              </a:spcAft>
            </a:pPr>
          </a:p>
          <a:p>
            <a:r>
              <a:rPr sz="1300" b="1"/>
              <a:t>Outliers (IQR Method): </a:t>
            </a:r>
            <a:r>
              <a:rPr sz="1300" b="0"/>
              <a:t>15 outliers detected</a:t>
            </a:r>
          </a:p>
          <a:p>
            <a:r>
              <a:rPr sz="1300"/>
              <a:t>Heart rates above 78 bpm are outliers: 80, 81, 82, 83, 84, 85, 86 bpm.</a:t>
            </a:r>
          </a:p>
          <a:p>
            <a:pPr>
              <a:spcAft>
                <a:spcPts val="400"/>
              </a:spcAft>
            </a:pPr>
          </a:p>
          <a:p>
            <a:r>
              <a:rPr sz="1300"/>
              <a:t>(Q1 = 68, Q3 = 72, IQR = 4, Upper fence = Q3 + 1.5 × IQR = 78 bpm)</a:t>
            </a:r>
          </a:p>
        </p:txBody>
      </p:sp>
      <p:pic>
        <p:nvPicPr>
          <p:cNvPr id="149" name="Picture 148" descr="heart_rat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01168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Udacity 2024 Student Template">
  <a:themeElements>
    <a:clrScheme name="Simple Light">
      <a:dk1>
        <a:srgbClr val="0B0B0B"/>
      </a:dk1>
      <a:lt1>
        <a:srgbClr val="FFFFFF"/>
      </a:lt1>
      <a:dk2>
        <a:srgbClr val="171A53"/>
      </a:dk2>
      <a:lt2>
        <a:srgbClr val="F6F6F6"/>
      </a:lt2>
      <a:accent1>
        <a:srgbClr val="2015FF"/>
      </a:accent1>
      <a:accent2>
        <a:srgbClr val="00C5A1"/>
      </a:accent2>
      <a:accent3>
        <a:srgbClr val="DBE2E8"/>
      </a:accent3>
      <a:accent4>
        <a:srgbClr val="BDEA09"/>
      </a:accent4>
      <a:accent5>
        <a:srgbClr val="6597FF"/>
      </a:accent5>
      <a:accent6>
        <a:srgbClr val="B181FF"/>
      </a:accent6>
      <a:hlink>
        <a:srgbClr val="2015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